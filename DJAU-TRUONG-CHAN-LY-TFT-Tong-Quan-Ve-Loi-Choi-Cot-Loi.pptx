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Inter"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711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05564" y="554355"/>
            <a:ext cx="13219271" cy="1385888"/>
          </a:xfrm>
          <a:prstGeom prst="rect">
            <a:avLst/>
          </a:prstGeom>
          <a:noFill/>
          <a:ln/>
        </p:spPr>
        <p:txBody>
          <a:bodyPr wrap="square" lIns="0" tIns="0" rIns="0" bIns="0" rtlCol="0" anchor="t"/>
          <a:lstStyle/>
          <a:p>
            <a:pPr marL="0" indent="0" algn="l">
              <a:lnSpc>
                <a:spcPts val="5450"/>
              </a:lnSpc>
              <a:buNone/>
            </a:pPr>
            <a:r>
              <a:rPr lang="en-US" sz="4350" b="1" dirty="0">
                <a:solidFill>
                  <a:srgbClr val="F95F88"/>
                </a:solidFill>
                <a:latin typeface="Petrona Bold" pitchFamily="34" charset="0"/>
                <a:ea typeface="Petrona Bold" pitchFamily="34" charset="-122"/>
                <a:cs typeface="Petrona Bold" pitchFamily="34" charset="-120"/>
              </a:rPr>
              <a:t>ĐẤU TRƯỜNG CHÂN LÝ (TFT): Tổng Quan Về Lối Chơi Cốt Lõi</a:t>
            </a:r>
            <a:endParaRPr lang="en-US" sz="4350" dirty="0"/>
          </a:p>
        </p:txBody>
      </p:sp>
      <p:sp>
        <p:nvSpPr>
          <p:cNvPr id="3" name="Shape 1"/>
          <p:cNvSpPr/>
          <p:nvPr/>
        </p:nvSpPr>
        <p:spPr>
          <a:xfrm>
            <a:off x="705564" y="2343388"/>
            <a:ext cx="6508790" cy="2004298"/>
          </a:xfrm>
          <a:prstGeom prst="roundRect">
            <a:avLst>
              <a:gd name="adj" fmla="val 5475"/>
            </a:avLst>
          </a:prstGeom>
          <a:solidFill>
            <a:srgbClr val="FDFAF7"/>
          </a:solidFill>
          <a:ln w="22860">
            <a:solidFill>
              <a:srgbClr val="C6BDDA"/>
            </a:solidFill>
            <a:prstDash val="solid"/>
          </a:ln>
        </p:spPr>
      </p:sp>
      <p:sp>
        <p:nvSpPr>
          <p:cNvPr id="4" name="Shape 2"/>
          <p:cNvSpPr/>
          <p:nvPr/>
        </p:nvSpPr>
        <p:spPr>
          <a:xfrm>
            <a:off x="682704" y="2343388"/>
            <a:ext cx="91440" cy="2004298"/>
          </a:xfrm>
          <a:prstGeom prst="roundRect">
            <a:avLst>
              <a:gd name="adj" fmla="val 92595"/>
            </a:avLst>
          </a:prstGeom>
          <a:solidFill>
            <a:srgbClr val="6237C8"/>
          </a:solidFill>
          <a:ln/>
        </p:spPr>
      </p:sp>
      <p:sp>
        <p:nvSpPr>
          <p:cNvPr id="5" name="Text 3"/>
          <p:cNvSpPr/>
          <p:nvPr/>
        </p:nvSpPr>
        <p:spPr>
          <a:xfrm>
            <a:off x="998577" y="2567821"/>
            <a:ext cx="2771775"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Tên Game &amp; Thể Loại</a:t>
            </a:r>
            <a:endParaRPr lang="en-US" sz="2150" dirty="0"/>
          </a:p>
        </p:txBody>
      </p:sp>
      <p:sp>
        <p:nvSpPr>
          <p:cNvPr id="6" name="Text 4"/>
          <p:cNvSpPr/>
          <p:nvPr/>
        </p:nvSpPr>
        <p:spPr>
          <a:xfrm>
            <a:off x="998577" y="3035141"/>
            <a:ext cx="5991344" cy="322421"/>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Đấu Trường Chân Lý</a:t>
            </a:r>
            <a:r>
              <a:rPr lang="en-US" sz="1550" dirty="0">
                <a:solidFill>
                  <a:srgbClr val="272525"/>
                </a:solidFill>
                <a:latin typeface="Inter" pitchFamily="34" charset="0"/>
                <a:ea typeface="Inter" pitchFamily="34" charset="-122"/>
                <a:cs typeface="Inter" pitchFamily="34" charset="-120"/>
              </a:rPr>
              <a:t> (Teamfight Tactics – TFT)</a:t>
            </a:r>
            <a:endParaRPr lang="en-US" sz="1550" dirty="0"/>
          </a:p>
        </p:txBody>
      </p:sp>
      <p:sp>
        <p:nvSpPr>
          <p:cNvPr id="7" name="Text 5"/>
          <p:cNvSpPr/>
          <p:nvPr/>
        </p:nvSpPr>
        <p:spPr>
          <a:xfrm>
            <a:off x="998577" y="3478411"/>
            <a:ext cx="5991344" cy="322421"/>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Thể loại: </a:t>
            </a:r>
            <a:r>
              <a:rPr lang="en-US" sz="1550" dirty="0">
                <a:solidFill>
                  <a:srgbClr val="FFFFFF"/>
                </a:solidFill>
                <a:highlight>
                  <a:srgbClr val="6237C8"/>
                </a:highlight>
                <a:latin typeface="Inter" pitchFamily="34" charset="0"/>
                <a:ea typeface="Inter" pitchFamily="34" charset="-122"/>
                <a:cs typeface="Inter" pitchFamily="34" charset="-120"/>
              </a:rPr>
              <a:t>Auto Battler / Chiến Thuật Cờ</a:t>
            </a:r>
            <a:r>
              <a:rPr lang="en-US" sz="1550" dirty="0">
                <a:solidFill>
                  <a:srgbClr val="272525"/>
                </a:solidFill>
                <a:latin typeface="Inter" pitchFamily="34" charset="0"/>
                <a:ea typeface="Inter" pitchFamily="34" charset="-122"/>
                <a:cs typeface="Inter" pitchFamily="34" charset="-120"/>
              </a:rPr>
              <a:t> / PvP Online.</a:t>
            </a:r>
            <a:endParaRPr lang="en-US" sz="1550" dirty="0"/>
          </a:p>
        </p:txBody>
      </p:sp>
      <p:sp>
        <p:nvSpPr>
          <p:cNvPr id="8" name="Shape 6"/>
          <p:cNvSpPr/>
          <p:nvPr/>
        </p:nvSpPr>
        <p:spPr>
          <a:xfrm>
            <a:off x="7415927" y="2343388"/>
            <a:ext cx="6508909" cy="2004298"/>
          </a:xfrm>
          <a:prstGeom prst="roundRect">
            <a:avLst>
              <a:gd name="adj" fmla="val 5475"/>
            </a:avLst>
          </a:prstGeom>
          <a:solidFill>
            <a:srgbClr val="FDFAF7"/>
          </a:solidFill>
          <a:ln w="22860">
            <a:solidFill>
              <a:srgbClr val="C6BDDA"/>
            </a:solidFill>
            <a:prstDash val="solid"/>
          </a:ln>
        </p:spPr>
      </p:sp>
      <p:sp>
        <p:nvSpPr>
          <p:cNvPr id="9" name="Shape 7"/>
          <p:cNvSpPr/>
          <p:nvPr/>
        </p:nvSpPr>
        <p:spPr>
          <a:xfrm>
            <a:off x="7393067" y="2343388"/>
            <a:ext cx="91440" cy="2004298"/>
          </a:xfrm>
          <a:prstGeom prst="roundRect">
            <a:avLst>
              <a:gd name="adj" fmla="val 92595"/>
            </a:avLst>
          </a:prstGeom>
          <a:solidFill>
            <a:srgbClr val="6237C8"/>
          </a:solidFill>
          <a:ln/>
        </p:spPr>
      </p:sp>
      <p:sp>
        <p:nvSpPr>
          <p:cNvPr id="10" name="Text 8"/>
          <p:cNvSpPr/>
          <p:nvPr/>
        </p:nvSpPr>
        <p:spPr>
          <a:xfrm>
            <a:off x="7708940" y="2567821"/>
            <a:ext cx="2771775" cy="346472"/>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Mục Tiêu &amp; Nền Tảng</a:t>
            </a:r>
            <a:endParaRPr lang="en-US" sz="2150" dirty="0"/>
          </a:p>
        </p:txBody>
      </p:sp>
      <p:sp>
        <p:nvSpPr>
          <p:cNvPr id="11" name="Text 9"/>
          <p:cNvSpPr/>
          <p:nvPr/>
        </p:nvSpPr>
        <p:spPr>
          <a:xfrm>
            <a:off x="7708940" y="3035141"/>
            <a:ext cx="5991463" cy="644843"/>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Mục tiêu: Xây dựng đội hình mạnh nhất, sinh tồn lâu nhất và </a:t>
            </a:r>
            <a:r>
              <a:rPr lang="en-US" sz="1550" b="1" dirty="0">
                <a:solidFill>
                  <a:srgbClr val="272525"/>
                </a:solidFill>
                <a:latin typeface="Inter" pitchFamily="34" charset="0"/>
                <a:ea typeface="Inter" pitchFamily="34" charset="-122"/>
                <a:cs typeface="Inter" pitchFamily="34" charset="-120"/>
              </a:rPr>
              <a:t>đạt Top 1</a:t>
            </a:r>
            <a:r>
              <a:rPr lang="en-US" sz="1550" dirty="0">
                <a:solidFill>
                  <a:srgbClr val="272525"/>
                </a:solidFill>
                <a:latin typeface="Inter" pitchFamily="34" charset="0"/>
                <a:ea typeface="Inter" pitchFamily="34" charset="-122"/>
                <a:cs typeface="Inter" pitchFamily="34" charset="-120"/>
              </a:rPr>
              <a:t> trong số 8 người chơi.</a:t>
            </a:r>
            <a:endParaRPr lang="en-US" sz="1550" dirty="0"/>
          </a:p>
        </p:txBody>
      </p:sp>
      <p:sp>
        <p:nvSpPr>
          <p:cNvPr id="12" name="Text 10"/>
          <p:cNvSpPr/>
          <p:nvPr/>
        </p:nvSpPr>
        <p:spPr>
          <a:xfrm>
            <a:off x="7708940" y="3800832"/>
            <a:ext cx="5991463" cy="322421"/>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Nền tảng: PC và Mobile (đa nền tảng).</a:t>
            </a:r>
            <a:endParaRPr lang="en-US" sz="1550" dirty="0"/>
          </a:p>
        </p:txBody>
      </p:sp>
      <p:sp>
        <p:nvSpPr>
          <p:cNvPr id="13" name="Text 11"/>
          <p:cNvSpPr/>
          <p:nvPr/>
        </p:nvSpPr>
        <p:spPr>
          <a:xfrm>
            <a:off x="705564" y="4649986"/>
            <a:ext cx="4904780" cy="554355"/>
          </a:xfrm>
          <a:prstGeom prst="rect">
            <a:avLst/>
          </a:prstGeom>
          <a:noFill/>
          <a:ln/>
        </p:spPr>
        <p:txBody>
          <a:bodyPr wrap="none" lIns="0" tIns="0" rIns="0" bIns="0" rtlCol="0" anchor="t"/>
          <a:lstStyle/>
          <a:p>
            <a:pPr marL="0" indent="0" algn="l">
              <a:lnSpc>
                <a:spcPts val="4350"/>
              </a:lnSpc>
              <a:buNone/>
            </a:pPr>
            <a:r>
              <a:rPr lang="en-US" sz="3450" b="1" dirty="0">
                <a:solidFill>
                  <a:srgbClr val="F95F88"/>
                </a:solidFill>
                <a:latin typeface="Petrona Bold" pitchFamily="34" charset="0"/>
                <a:ea typeface="Petrona Bold" pitchFamily="34" charset="-122"/>
                <a:cs typeface="Petrona Bold" pitchFamily="34" charset="-120"/>
              </a:rPr>
              <a:t>Cơ Chế Gameplay Chính</a:t>
            </a:r>
            <a:endParaRPr lang="en-US" sz="3450" dirty="0"/>
          </a:p>
        </p:txBody>
      </p:sp>
      <p:sp>
        <p:nvSpPr>
          <p:cNvPr id="14" name="Shape 12"/>
          <p:cNvSpPr/>
          <p:nvPr/>
        </p:nvSpPr>
        <p:spPr>
          <a:xfrm>
            <a:off x="705564" y="5506641"/>
            <a:ext cx="453509" cy="453509"/>
          </a:xfrm>
          <a:prstGeom prst="roundRect">
            <a:avLst>
              <a:gd name="adj" fmla="val 18670"/>
            </a:avLst>
          </a:prstGeom>
          <a:solidFill>
            <a:srgbClr val="E0D7F4"/>
          </a:solidFill>
          <a:ln w="7620">
            <a:solidFill>
              <a:srgbClr val="C6BDDA"/>
            </a:solidFill>
            <a:prstDash val="solid"/>
          </a:ln>
        </p:spPr>
      </p:sp>
      <p:sp>
        <p:nvSpPr>
          <p:cNvPr id="15" name="Text 13"/>
          <p:cNvSpPr/>
          <p:nvPr/>
        </p:nvSpPr>
        <p:spPr>
          <a:xfrm>
            <a:off x="765989" y="5525453"/>
            <a:ext cx="332542" cy="415766"/>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Petrona Bold" pitchFamily="34" charset="0"/>
                <a:ea typeface="Petrona Bold" pitchFamily="34" charset="-122"/>
                <a:cs typeface="Petrona Bold" pitchFamily="34" charset="-120"/>
              </a:rPr>
              <a:t>1</a:t>
            </a:r>
            <a:endParaRPr lang="en-US" sz="2600" dirty="0"/>
          </a:p>
        </p:txBody>
      </p:sp>
      <p:sp>
        <p:nvSpPr>
          <p:cNvPr id="16" name="Text 14"/>
          <p:cNvSpPr/>
          <p:nvPr/>
        </p:nvSpPr>
        <p:spPr>
          <a:xfrm>
            <a:off x="1360646" y="5575935"/>
            <a:ext cx="3583305" cy="692944"/>
          </a:xfrm>
          <a:prstGeom prst="rect">
            <a:avLst/>
          </a:prstGeom>
          <a:noFill/>
          <a:ln/>
        </p:spPr>
        <p:txBody>
          <a:bodyPr wrap="squar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Thu Thập &amp; Nâng Cấp Tướng</a:t>
            </a:r>
            <a:endParaRPr lang="en-US" sz="2150" dirty="0"/>
          </a:p>
        </p:txBody>
      </p:sp>
      <p:sp>
        <p:nvSpPr>
          <p:cNvPr id="17" name="Text 15"/>
          <p:cNvSpPr/>
          <p:nvPr/>
        </p:nvSpPr>
        <p:spPr>
          <a:xfrm>
            <a:off x="1360646" y="6389727"/>
            <a:ext cx="3583305" cy="1289685"/>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Người chơi mua các vị tướng, ghép 3 tướng giống nhau để nâng cấp lên 2★, và 3 tướng 2★ để đạt sức mạnh tối đa 3★.</a:t>
            </a:r>
            <a:endParaRPr lang="en-US" sz="1550" dirty="0"/>
          </a:p>
        </p:txBody>
      </p:sp>
      <p:sp>
        <p:nvSpPr>
          <p:cNvPr id="18" name="Shape 16"/>
          <p:cNvSpPr/>
          <p:nvPr/>
        </p:nvSpPr>
        <p:spPr>
          <a:xfrm>
            <a:off x="5195887" y="5506641"/>
            <a:ext cx="453509" cy="453509"/>
          </a:xfrm>
          <a:prstGeom prst="roundRect">
            <a:avLst>
              <a:gd name="adj" fmla="val 18670"/>
            </a:avLst>
          </a:prstGeom>
          <a:solidFill>
            <a:srgbClr val="E0D7F4"/>
          </a:solidFill>
          <a:ln w="7620">
            <a:solidFill>
              <a:srgbClr val="C6BDDA"/>
            </a:solidFill>
            <a:prstDash val="solid"/>
          </a:ln>
        </p:spPr>
      </p:sp>
      <p:sp>
        <p:nvSpPr>
          <p:cNvPr id="19" name="Text 17"/>
          <p:cNvSpPr/>
          <p:nvPr/>
        </p:nvSpPr>
        <p:spPr>
          <a:xfrm>
            <a:off x="5256312" y="5525453"/>
            <a:ext cx="332542" cy="415766"/>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Petrona Bold" pitchFamily="34" charset="0"/>
                <a:ea typeface="Petrona Bold" pitchFamily="34" charset="-122"/>
                <a:cs typeface="Petrona Bold" pitchFamily="34" charset="-120"/>
              </a:rPr>
              <a:t>2</a:t>
            </a:r>
            <a:endParaRPr lang="en-US" sz="2600" dirty="0"/>
          </a:p>
        </p:txBody>
      </p:sp>
      <p:sp>
        <p:nvSpPr>
          <p:cNvPr id="20" name="Text 18"/>
          <p:cNvSpPr/>
          <p:nvPr/>
        </p:nvSpPr>
        <p:spPr>
          <a:xfrm>
            <a:off x="5850969" y="5575935"/>
            <a:ext cx="3583424" cy="692944"/>
          </a:xfrm>
          <a:prstGeom prst="rect">
            <a:avLst/>
          </a:prstGeom>
          <a:noFill/>
          <a:ln/>
        </p:spPr>
        <p:txBody>
          <a:bodyPr wrap="squar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Kích Hoạt Hiệu Ứng Chiến Thuật</a:t>
            </a:r>
            <a:endParaRPr lang="en-US" sz="2150" dirty="0"/>
          </a:p>
        </p:txBody>
      </p:sp>
      <p:sp>
        <p:nvSpPr>
          <p:cNvPr id="21" name="Text 19"/>
          <p:cNvSpPr/>
          <p:nvPr/>
        </p:nvSpPr>
        <p:spPr>
          <a:xfrm>
            <a:off x="5850969" y="6389727"/>
            <a:ext cx="3583424" cy="1289685"/>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Sắp xếp đội hình theo các </a:t>
            </a:r>
            <a:r>
              <a:rPr lang="en-US" sz="1550" b="1" dirty="0">
                <a:solidFill>
                  <a:srgbClr val="272525"/>
                </a:solidFill>
                <a:latin typeface="Inter" pitchFamily="34" charset="0"/>
                <a:ea typeface="Inter" pitchFamily="34" charset="-122"/>
                <a:cs typeface="Inter" pitchFamily="34" charset="-120"/>
              </a:rPr>
              <a:t>Hệ – Tộc</a:t>
            </a:r>
            <a:r>
              <a:rPr lang="en-US" sz="1550" dirty="0">
                <a:solidFill>
                  <a:srgbClr val="272525"/>
                </a:solidFill>
                <a:latin typeface="Inter" pitchFamily="34" charset="0"/>
                <a:ea typeface="Inter" pitchFamily="34" charset="-122"/>
                <a:cs typeface="Inter" pitchFamily="34" charset="-120"/>
              </a:rPr>
              <a:t> (Synergies) để kích hoạt các chỉ số và hiệu ứng bổ sung cực kỳ mạnh mẽ.</a:t>
            </a:r>
            <a:endParaRPr lang="en-US" sz="1550" dirty="0"/>
          </a:p>
        </p:txBody>
      </p:sp>
      <p:sp>
        <p:nvSpPr>
          <p:cNvPr id="22" name="Shape 20"/>
          <p:cNvSpPr/>
          <p:nvPr/>
        </p:nvSpPr>
        <p:spPr>
          <a:xfrm>
            <a:off x="9686330" y="5506641"/>
            <a:ext cx="453509" cy="453509"/>
          </a:xfrm>
          <a:prstGeom prst="roundRect">
            <a:avLst>
              <a:gd name="adj" fmla="val 18670"/>
            </a:avLst>
          </a:prstGeom>
          <a:solidFill>
            <a:srgbClr val="E0D7F4"/>
          </a:solidFill>
          <a:ln w="7620">
            <a:solidFill>
              <a:srgbClr val="C6BDDA"/>
            </a:solidFill>
            <a:prstDash val="solid"/>
          </a:ln>
        </p:spPr>
      </p:sp>
      <p:sp>
        <p:nvSpPr>
          <p:cNvPr id="23" name="Text 21"/>
          <p:cNvSpPr/>
          <p:nvPr/>
        </p:nvSpPr>
        <p:spPr>
          <a:xfrm>
            <a:off x="9746754" y="5525453"/>
            <a:ext cx="332542" cy="415766"/>
          </a:xfrm>
          <a:prstGeom prst="rect">
            <a:avLst/>
          </a:prstGeom>
          <a:noFill/>
          <a:ln/>
        </p:spPr>
        <p:txBody>
          <a:bodyPr wrap="none" lIns="0" tIns="0" rIns="0" bIns="0" rtlCol="0" anchor="t"/>
          <a:lstStyle/>
          <a:p>
            <a:pPr marL="0" indent="0" algn="ctr">
              <a:lnSpc>
                <a:spcPts val="2600"/>
              </a:lnSpc>
              <a:buNone/>
            </a:pPr>
            <a:r>
              <a:rPr lang="en-US" sz="2600" b="1" dirty="0">
                <a:solidFill>
                  <a:srgbClr val="272525"/>
                </a:solidFill>
                <a:latin typeface="Petrona Bold" pitchFamily="34" charset="0"/>
                <a:ea typeface="Petrona Bold" pitchFamily="34" charset="-122"/>
                <a:cs typeface="Petrona Bold" pitchFamily="34" charset="-120"/>
              </a:rPr>
              <a:t>3</a:t>
            </a:r>
            <a:endParaRPr lang="en-US" sz="2600" dirty="0"/>
          </a:p>
        </p:txBody>
      </p:sp>
      <p:sp>
        <p:nvSpPr>
          <p:cNvPr id="24" name="Text 22"/>
          <p:cNvSpPr/>
          <p:nvPr/>
        </p:nvSpPr>
        <p:spPr>
          <a:xfrm>
            <a:off x="10341412" y="5575935"/>
            <a:ext cx="3583424" cy="692944"/>
          </a:xfrm>
          <a:prstGeom prst="rect">
            <a:avLst/>
          </a:prstGeom>
          <a:noFill/>
          <a:ln/>
        </p:spPr>
        <p:txBody>
          <a:bodyPr wrap="square" lIns="0" tIns="0" rIns="0" bIns="0" rtlCol="0" anchor="t"/>
          <a:lstStyle/>
          <a:p>
            <a:pPr marL="0" indent="0" algn="l">
              <a:lnSpc>
                <a:spcPts val="2700"/>
              </a:lnSpc>
              <a:buNone/>
            </a:pPr>
            <a:r>
              <a:rPr lang="en-US" sz="2150" b="1" dirty="0">
                <a:solidFill>
                  <a:srgbClr val="272525"/>
                </a:solidFill>
                <a:latin typeface="Petrona Bold" pitchFamily="34" charset="0"/>
                <a:ea typeface="Petrona Bold" pitchFamily="34" charset="-122"/>
                <a:cs typeface="Petrona Bold" pitchFamily="34" charset="-120"/>
              </a:rPr>
              <a:t>Trận Đấu Tự Động &amp; Thua Cuộc</a:t>
            </a:r>
            <a:endParaRPr lang="en-US" sz="2150" dirty="0"/>
          </a:p>
        </p:txBody>
      </p:sp>
      <p:sp>
        <p:nvSpPr>
          <p:cNvPr id="25" name="Text 23"/>
          <p:cNvSpPr/>
          <p:nvPr/>
        </p:nvSpPr>
        <p:spPr>
          <a:xfrm>
            <a:off x="10341412" y="6389727"/>
            <a:ext cx="3583424" cy="1289685"/>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Pha combat diễn ra tự động. Thua một vòng đấu sẽ bị trừ máu. Người chơi hết 0 máu sẽ bị loại khỏi trận đấu.</a:t>
            </a:r>
            <a:endParaRPr lang="en-US" sz="1550" dirty="0"/>
          </a:p>
        </p:txBody>
      </p:sp>
      <p:sp>
        <p:nvSpPr>
          <p:cNvPr id="26" name="Rectangle: Rounded Corners 25">
            <a:extLst>
              <a:ext uri="{FF2B5EF4-FFF2-40B4-BE49-F238E27FC236}">
                <a16:creationId xmlns:a16="http://schemas.microsoft.com/office/drawing/2014/main" id="{B2B640FF-81D8-7211-6CCE-4511E002F359}"/>
              </a:ext>
            </a:extLst>
          </p:cNvPr>
          <p:cNvSpPr/>
          <p:nvPr/>
        </p:nvSpPr>
        <p:spPr>
          <a:xfrm>
            <a:off x="11782425" y="7791450"/>
            <a:ext cx="2714625" cy="323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Quách Ngọc Nguyên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3058" y="514231"/>
            <a:ext cx="13324284" cy="1282779"/>
          </a:xfrm>
          <a:prstGeom prst="rect">
            <a:avLst/>
          </a:prstGeom>
          <a:noFill/>
          <a:ln/>
        </p:spPr>
        <p:txBody>
          <a:bodyPr wrap="square" lIns="0" tIns="0" rIns="0" bIns="0" rtlCol="0" anchor="t"/>
          <a:lstStyle/>
          <a:p>
            <a:pPr marL="0" indent="0" algn="l">
              <a:lnSpc>
                <a:spcPts val="5050"/>
              </a:lnSpc>
              <a:buNone/>
            </a:pPr>
            <a:r>
              <a:rPr lang="en-US" sz="4000" b="1" dirty="0">
                <a:solidFill>
                  <a:srgbClr val="F95F88"/>
                </a:solidFill>
                <a:latin typeface="Petrona Bold" pitchFamily="34" charset="0"/>
                <a:ea typeface="Petrona Bold" pitchFamily="34" charset="-122"/>
                <a:cs typeface="Petrona Bold" pitchFamily="34" charset="-120"/>
              </a:rPr>
              <a:t>NỀN TẢNG CỐT TRUYỆN: Cuộc Chiến Thuật Gia (Tactician)</a:t>
            </a:r>
            <a:endParaRPr lang="en-US" sz="4000" dirty="0"/>
          </a:p>
        </p:txBody>
      </p:sp>
      <p:sp>
        <p:nvSpPr>
          <p:cNvPr id="3" name="Text 1"/>
          <p:cNvSpPr/>
          <p:nvPr/>
        </p:nvSpPr>
        <p:spPr>
          <a:xfrm>
            <a:off x="653058" y="2244685"/>
            <a:ext cx="7812524" cy="1193959"/>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Thế giới Valoran rộng lớn rơi vào hỗn loạn khi những khe nứt không gian kỳ lạ xuất hiện. Sự kiện này đã kéo theo nhiều chiều thực tại va chạm, triệu hồi các vị tướng từ khắp các khu vực như Ionia, Piltover, Freljord, và Quần Đảo Bóng Đêm vào một không gian gọi là </a:t>
            </a:r>
            <a:r>
              <a:rPr lang="en-US" sz="1450" b="1" dirty="0">
                <a:solidFill>
                  <a:srgbClr val="272525"/>
                </a:solidFill>
                <a:latin typeface="Inter" pitchFamily="34" charset="0"/>
                <a:ea typeface="Inter" pitchFamily="34" charset="-122"/>
                <a:cs typeface="Inter" pitchFamily="34" charset="-120"/>
              </a:rPr>
              <a:t>“Đấu Trường Vô Tận”</a:t>
            </a:r>
            <a:r>
              <a:rPr lang="en-US" sz="1450" dirty="0">
                <a:solidFill>
                  <a:srgbClr val="272525"/>
                </a:solidFill>
                <a:latin typeface="Inter" pitchFamily="34" charset="0"/>
                <a:ea typeface="Inter" pitchFamily="34" charset="-122"/>
                <a:cs typeface="Inter" pitchFamily="34" charset="-120"/>
              </a:rPr>
              <a:t>.</a:t>
            </a:r>
            <a:endParaRPr lang="en-US" sz="1450" dirty="0"/>
          </a:p>
        </p:txBody>
      </p:sp>
      <p:sp>
        <p:nvSpPr>
          <p:cNvPr id="4" name="Text 2"/>
          <p:cNvSpPr/>
          <p:nvPr/>
        </p:nvSpPr>
        <p:spPr>
          <a:xfrm>
            <a:off x="653058" y="3606522"/>
            <a:ext cx="7812524" cy="1193959"/>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Người chơi không trực tiếp tham chiến mà trở thành </a:t>
            </a:r>
            <a:r>
              <a:rPr lang="en-US" sz="1450" b="1" dirty="0">
                <a:solidFill>
                  <a:srgbClr val="6237C8"/>
                </a:solidFill>
                <a:latin typeface="Inter" pitchFamily="34" charset="0"/>
                <a:ea typeface="Inter" pitchFamily="34" charset="-122"/>
                <a:cs typeface="Inter" pitchFamily="34" charset="-120"/>
              </a:rPr>
              <a:t>Tactician</a:t>
            </a:r>
            <a:r>
              <a:rPr lang="en-US" sz="1450" dirty="0">
                <a:solidFill>
                  <a:srgbClr val="272525"/>
                </a:solidFill>
                <a:latin typeface="Inter" pitchFamily="34" charset="0"/>
                <a:ea typeface="Inter" pitchFamily="34" charset="-122"/>
                <a:cs typeface="Inter" pitchFamily="34" charset="-120"/>
              </a:rPr>
              <a:t> – những sinh vật nhỏ bé nhưng sở hữu sức mạnh điều khiển toàn bộ đội quân và chiến thuật. Mỗi trận đấu là một vòng chiến sinh tử, nơi bạn phải liên tục tính toán, quản lý tài nguyên, trang bị và xây dựng đội hình.</a:t>
            </a:r>
            <a:endParaRPr lang="en-US" sz="1450" dirty="0"/>
          </a:p>
        </p:txBody>
      </p:sp>
      <p:sp>
        <p:nvSpPr>
          <p:cNvPr id="5" name="Text 3"/>
          <p:cNvSpPr/>
          <p:nvPr/>
        </p:nvSpPr>
        <p:spPr>
          <a:xfrm>
            <a:off x="932855" y="5010388"/>
            <a:ext cx="7532727" cy="895469"/>
          </a:xfrm>
          <a:prstGeom prst="rect">
            <a:avLst/>
          </a:prstGeom>
          <a:noFill/>
          <a:ln/>
        </p:spPr>
        <p:txBody>
          <a:bodyPr wrap="square" lIns="0" tIns="0" rIns="0" bIns="0" rtlCol="0" anchor="t"/>
          <a:lstStyle/>
          <a:p>
            <a:pPr marL="0" indent="0" algn="l">
              <a:lnSpc>
                <a:spcPts val="2350"/>
              </a:lnSpc>
              <a:buNone/>
            </a:pPr>
            <a:r>
              <a:rPr lang="en-US" sz="1450" dirty="0">
                <a:solidFill>
                  <a:srgbClr val="272525"/>
                </a:solidFill>
                <a:latin typeface="Inter" pitchFamily="34" charset="0"/>
                <a:ea typeface="Inter" pitchFamily="34" charset="-122"/>
                <a:cs typeface="Inter" pitchFamily="34" charset="-120"/>
              </a:rPr>
              <a:t>Khi mùa giải mới mở ra, các Tộc/Hệ mới, trang bị cổ ngữ và các biến thể sức mạnh mới liên tục được giới thiệu. Chỉ có một Tactician duy nhất sống sót cuối cùng để định hình lại thế giới theo ý muốn của mình.</a:t>
            </a:r>
            <a:endParaRPr lang="en-US" sz="1450" dirty="0"/>
          </a:p>
        </p:txBody>
      </p:sp>
      <p:sp>
        <p:nvSpPr>
          <p:cNvPr id="6" name="Shape 4"/>
          <p:cNvSpPr/>
          <p:nvPr/>
        </p:nvSpPr>
        <p:spPr>
          <a:xfrm>
            <a:off x="653058" y="5010388"/>
            <a:ext cx="22860" cy="895469"/>
          </a:xfrm>
          <a:prstGeom prst="rect">
            <a:avLst/>
          </a:prstGeom>
          <a:solidFill>
            <a:srgbClr val="6237C8"/>
          </a:solidFill>
          <a:ln/>
        </p:spPr>
      </p:sp>
      <p:sp>
        <p:nvSpPr>
          <p:cNvPr id="7" name="Shape 5"/>
          <p:cNvSpPr/>
          <p:nvPr/>
        </p:nvSpPr>
        <p:spPr>
          <a:xfrm>
            <a:off x="653058" y="6115764"/>
            <a:ext cx="7812524" cy="1389698"/>
          </a:xfrm>
          <a:prstGeom prst="roundRect">
            <a:avLst>
              <a:gd name="adj" fmla="val 5639"/>
            </a:avLst>
          </a:prstGeom>
          <a:solidFill>
            <a:srgbClr val="D0C3EE"/>
          </a:solidFill>
          <a:ln/>
        </p:spPr>
      </p:sp>
      <p:pic>
        <p:nvPicPr>
          <p:cNvPr id="8" name="Image 0" descr="preencoded.png"/>
          <p:cNvPicPr>
            <a:picLocks noChangeAspect="1"/>
          </p:cNvPicPr>
          <p:nvPr/>
        </p:nvPicPr>
        <p:blipFill>
          <a:blip r:embed="rId3"/>
          <a:stretch>
            <a:fillRect/>
          </a:stretch>
        </p:blipFill>
        <p:spPr>
          <a:xfrm>
            <a:off x="839629" y="6398895"/>
            <a:ext cx="233124" cy="186571"/>
          </a:xfrm>
          <a:prstGeom prst="rect">
            <a:avLst/>
          </a:prstGeom>
        </p:spPr>
      </p:pic>
      <p:sp>
        <p:nvSpPr>
          <p:cNvPr id="9" name="Text 6"/>
          <p:cNvSpPr/>
          <p:nvPr/>
        </p:nvSpPr>
        <p:spPr>
          <a:xfrm>
            <a:off x="1259324" y="6348889"/>
            <a:ext cx="7019687" cy="895469"/>
          </a:xfrm>
          <a:prstGeom prst="rect">
            <a:avLst/>
          </a:prstGeom>
          <a:noFill/>
          <a:ln/>
        </p:spPr>
        <p:txBody>
          <a:bodyPr wrap="square" lIns="0" tIns="0" rIns="0" bIns="0" rtlCol="0" anchor="t"/>
          <a:lstStyle/>
          <a:p>
            <a:pPr marL="0" indent="0" algn="l">
              <a:lnSpc>
                <a:spcPts val="2350"/>
              </a:lnSpc>
              <a:buNone/>
            </a:pPr>
            <a:r>
              <a:rPr lang="en-US" sz="1450" b="1" dirty="0">
                <a:solidFill>
                  <a:srgbClr val="000000"/>
                </a:solidFill>
                <a:latin typeface="Inter" pitchFamily="34" charset="0"/>
                <a:ea typeface="Inter" pitchFamily="34" charset="-122"/>
                <a:cs typeface="Inter" pitchFamily="34" charset="-120"/>
              </a:rPr>
              <a:t>Ý nghĩa cốt lõi:</a:t>
            </a:r>
            <a:r>
              <a:rPr lang="en-US" sz="1450" dirty="0">
                <a:solidFill>
                  <a:srgbClr val="000000"/>
                </a:solidFill>
                <a:latin typeface="Inter" pitchFamily="34" charset="0"/>
                <a:ea typeface="Inter" pitchFamily="34" charset="-122"/>
                <a:cs typeface="Inter" pitchFamily="34" charset="-120"/>
              </a:rPr>
              <a:t> TFT không chỉ là trò chơi cờ đơn thuần mà là một cuộc đấu trí tổng hợp về chiến thuật, quản lý tài chính, may mắn và khả năng </a:t>
            </a:r>
            <a:r>
              <a:rPr lang="en-US" sz="1450" b="1" dirty="0">
                <a:solidFill>
                  <a:srgbClr val="000000"/>
                </a:solidFill>
                <a:latin typeface="Inter" pitchFamily="34" charset="0"/>
                <a:ea typeface="Inter" pitchFamily="34" charset="-122"/>
                <a:cs typeface="Inter" pitchFamily="34" charset="-120"/>
              </a:rPr>
              <a:t>đọc meta</a:t>
            </a:r>
            <a:r>
              <a:rPr lang="en-US" sz="1450" dirty="0">
                <a:solidFill>
                  <a:srgbClr val="000000"/>
                </a:solidFill>
                <a:latin typeface="Inter" pitchFamily="34" charset="0"/>
                <a:ea typeface="Inter" pitchFamily="34" charset="-122"/>
                <a:cs typeface="Inter" pitchFamily="34" charset="-120"/>
              </a:rPr>
              <a:t> để xoay chuyển tình thế.</a:t>
            </a:r>
            <a:endParaRPr lang="en-US" sz="1450" dirty="0"/>
          </a:p>
        </p:txBody>
      </p:sp>
      <p:pic>
        <p:nvPicPr>
          <p:cNvPr id="10" name="Image 1" descr="preencoded.png"/>
          <p:cNvPicPr>
            <a:picLocks noChangeAspect="1"/>
          </p:cNvPicPr>
          <p:nvPr/>
        </p:nvPicPr>
        <p:blipFill>
          <a:blip r:embed="rId4"/>
          <a:stretch>
            <a:fillRect/>
          </a:stretch>
        </p:blipFill>
        <p:spPr>
          <a:xfrm>
            <a:off x="8928259" y="2286714"/>
            <a:ext cx="3358515" cy="1865828"/>
          </a:xfrm>
          <a:prstGeom prst="rect">
            <a:avLst/>
          </a:prstGeom>
        </p:spPr>
      </p:pic>
      <p:pic>
        <p:nvPicPr>
          <p:cNvPr id="11" name="Image 2" descr="preencoded.png"/>
          <p:cNvPicPr>
            <a:picLocks noChangeAspect="1"/>
          </p:cNvPicPr>
          <p:nvPr/>
        </p:nvPicPr>
        <p:blipFill>
          <a:blip r:embed="rId4"/>
          <a:stretch>
            <a:fillRect/>
          </a:stretch>
        </p:blipFill>
        <p:spPr>
          <a:xfrm>
            <a:off x="8928259" y="4362450"/>
            <a:ext cx="3358515" cy="1865828"/>
          </a:xfrm>
          <a:prstGeom prst="rect">
            <a:avLst/>
          </a:prstGeom>
        </p:spPr>
      </p:pic>
      <p:sp>
        <p:nvSpPr>
          <p:cNvPr id="16" name="Rectangle: Rounded Corners 15">
            <a:extLst>
              <a:ext uri="{FF2B5EF4-FFF2-40B4-BE49-F238E27FC236}">
                <a16:creationId xmlns:a16="http://schemas.microsoft.com/office/drawing/2014/main" id="{9802C12F-0E43-9517-D749-817DB3C786F8}"/>
              </a:ext>
            </a:extLst>
          </p:cNvPr>
          <p:cNvSpPr/>
          <p:nvPr/>
        </p:nvSpPr>
        <p:spPr>
          <a:xfrm>
            <a:off x="11782425" y="7791450"/>
            <a:ext cx="2714625" cy="323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Quách Ngọc Nguyên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8512" y="377904"/>
            <a:ext cx="8569404" cy="469940"/>
          </a:xfrm>
          <a:prstGeom prst="rect">
            <a:avLst/>
          </a:prstGeom>
          <a:noFill/>
          <a:ln/>
        </p:spPr>
        <p:txBody>
          <a:bodyPr wrap="none" lIns="0" tIns="0" rIns="0" bIns="0" rtlCol="0" anchor="t"/>
          <a:lstStyle/>
          <a:p>
            <a:pPr marL="0" indent="0" algn="l">
              <a:lnSpc>
                <a:spcPts val="3700"/>
              </a:lnSpc>
              <a:buNone/>
            </a:pPr>
            <a:r>
              <a:rPr lang="en-US" sz="2950" b="1" dirty="0">
                <a:solidFill>
                  <a:srgbClr val="F95F88"/>
                </a:solidFill>
                <a:latin typeface="Petrona Bold" pitchFamily="34" charset="0"/>
                <a:ea typeface="Petrona Bold" pitchFamily="34" charset="-122"/>
                <a:cs typeface="Petrona Bold" pitchFamily="34" charset="-120"/>
              </a:rPr>
              <a:t>Vòng Lặp Gameplay Cốt Lõi (Core Gameplay Loop)</a:t>
            </a:r>
            <a:endParaRPr lang="en-US" sz="2950" dirty="0"/>
          </a:p>
        </p:txBody>
      </p:sp>
      <p:sp>
        <p:nvSpPr>
          <p:cNvPr id="3" name="Text 1"/>
          <p:cNvSpPr/>
          <p:nvPr/>
        </p:nvSpPr>
        <p:spPr>
          <a:xfrm>
            <a:off x="478512" y="1121212"/>
            <a:ext cx="13673376"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Mỗi trận đấu TFT diễn ra theo một chu trình lặp lại, nơi quản lý tài nguyên là chìa khóa thành công.</a:t>
            </a:r>
            <a:endParaRPr lang="en-US" sz="1050" dirty="0"/>
          </a:p>
        </p:txBody>
      </p:sp>
      <p:sp>
        <p:nvSpPr>
          <p:cNvPr id="4" name="Shape 2"/>
          <p:cNvSpPr/>
          <p:nvPr/>
        </p:nvSpPr>
        <p:spPr>
          <a:xfrm>
            <a:off x="615196" y="1698546"/>
            <a:ext cx="136684" cy="615196"/>
          </a:xfrm>
          <a:prstGeom prst="roundRect">
            <a:avLst>
              <a:gd name="adj" fmla="val 42014"/>
            </a:avLst>
          </a:prstGeom>
          <a:solidFill>
            <a:srgbClr val="E0D7F4"/>
          </a:solidFill>
          <a:ln w="7620">
            <a:solidFill>
              <a:srgbClr val="C6BDDA"/>
            </a:solidFill>
            <a:prstDash val="solid"/>
          </a:ln>
        </p:spPr>
      </p:sp>
      <p:sp>
        <p:nvSpPr>
          <p:cNvPr id="5" name="Shape 3"/>
          <p:cNvSpPr/>
          <p:nvPr/>
        </p:nvSpPr>
        <p:spPr>
          <a:xfrm>
            <a:off x="478512" y="1608773"/>
            <a:ext cx="410170" cy="410170"/>
          </a:xfrm>
          <a:prstGeom prst="roundRect">
            <a:avLst>
              <a:gd name="adj" fmla="val 111466"/>
            </a:avLst>
          </a:prstGeom>
          <a:solidFill>
            <a:srgbClr val="E0D7F4"/>
          </a:solidFill>
          <a:ln w="7620">
            <a:solidFill>
              <a:srgbClr val="C6BDDA"/>
            </a:solidFill>
            <a:prstDash val="solid"/>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1025" y="1711285"/>
            <a:ext cx="205026" cy="205026"/>
          </a:xfrm>
          <a:prstGeom prst="rect">
            <a:avLst/>
          </a:prstGeom>
        </p:spPr>
      </p:pic>
      <p:sp>
        <p:nvSpPr>
          <p:cNvPr id="7" name="Text 4"/>
          <p:cNvSpPr/>
          <p:nvPr/>
        </p:nvSpPr>
        <p:spPr>
          <a:xfrm>
            <a:off x="1025366" y="1630204"/>
            <a:ext cx="1879997" cy="234910"/>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Petrona Bold" pitchFamily="34" charset="0"/>
                <a:ea typeface="Petrona Bold" pitchFamily="34" charset="-122"/>
                <a:cs typeface="Petrona Bold" pitchFamily="34" charset="-120"/>
              </a:rPr>
              <a:t>1. Thu Thập Vàng</a:t>
            </a:r>
            <a:endParaRPr lang="en-US" sz="1450" dirty="0"/>
          </a:p>
        </p:txBody>
      </p:sp>
      <p:sp>
        <p:nvSpPr>
          <p:cNvPr id="8" name="Text 5"/>
          <p:cNvSpPr/>
          <p:nvPr/>
        </p:nvSpPr>
        <p:spPr>
          <a:xfrm>
            <a:off x="1025366" y="1947148"/>
            <a:ext cx="13126522"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Vàng được cấp tự động sau mỗi round. Nguồn thu bao gồm: Vàng cơ bản, tiền lãi từ việc giữ vàng, và thưởng chuỗi thắng/thua liên tiếp, cùng với phần thưởng từ quái vật.</a:t>
            </a:r>
            <a:endParaRPr lang="en-US" sz="1050" dirty="0"/>
          </a:p>
        </p:txBody>
      </p:sp>
      <p:sp>
        <p:nvSpPr>
          <p:cNvPr id="9" name="Shape 6"/>
          <p:cNvSpPr/>
          <p:nvPr/>
        </p:nvSpPr>
        <p:spPr>
          <a:xfrm>
            <a:off x="820222" y="2655570"/>
            <a:ext cx="136684" cy="615196"/>
          </a:xfrm>
          <a:prstGeom prst="roundRect">
            <a:avLst>
              <a:gd name="adj" fmla="val 42014"/>
            </a:avLst>
          </a:prstGeom>
          <a:solidFill>
            <a:srgbClr val="E0D7F4"/>
          </a:solidFill>
          <a:ln w="7620">
            <a:solidFill>
              <a:srgbClr val="C6BDDA"/>
            </a:solidFill>
            <a:prstDash val="solid"/>
          </a:ln>
        </p:spPr>
      </p:sp>
      <p:sp>
        <p:nvSpPr>
          <p:cNvPr id="10" name="Shape 7"/>
          <p:cNvSpPr/>
          <p:nvPr/>
        </p:nvSpPr>
        <p:spPr>
          <a:xfrm>
            <a:off x="683538" y="2565797"/>
            <a:ext cx="410170" cy="410170"/>
          </a:xfrm>
          <a:prstGeom prst="roundRect">
            <a:avLst>
              <a:gd name="adj" fmla="val 111466"/>
            </a:avLst>
          </a:prstGeom>
          <a:solidFill>
            <a:srgbClr val="E0D7F4"/>
          </a:solidFill>
          <a:ln w="7620">
            <a:solidFill>
              <a:srgbClr val="C6BDDA"/>
            </a:solidFill>
            <a:prstDash val="solid"/>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6051" y="2668310"/>
            <a:ext cx="205026" cy="205026"/>
          </a:xfrm>
          <a:prstGeom prst="rect">
            <a:avLst/>
          </a:prstGeom>
        </p:spPr>
      </p:pic>
      <p:sp>
        <p:nvSpPr>
          <p:cNvPr id="12" name="Text 8"/>
          <p:cNvSpPr/>
          <p:nvPr/>
        </p:nvSpPr>
        <p:spPr>
          <a:xfrm>
            <a:off x="1230392" y="2587228"/>
            <a:ext cx="1879997" cy="234910"/>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Petrona Bold" pitchFamily="34" charset="0"/>
                <a:ea typeface="Petrona Bold" pitchFamily="34" charset="-122"/>
                <a:cs typeface="Petrona Bold" pitchFamily="34" charset="-120"/>
              </a:rPr>
              <a:t>2. Quản Lý Tài Chính</a:t>
            </a:r>
            <a:endParaRPr lang="en-US" sz="1450" dirty="0"/>
          </a:p>
        </p:txBody>
      </p:sp>
      <p:sp>
        <p:nvSpPr>
          <p:cNvPr id="13" name="Text 9"/>
          <p:cNvSpPr/>
          <p:nvPr/>
        </p:nvSpPr>
        <p:spPr>
          <a:xfrm>
            <a:off x="1230392" y="2904173"/>
            <a:ext cx="12921496"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Sử dụng vàng để: Mua tướng (để ghép sao), Roll (làm mới cửa hàng để tìm tướng), hoặc Lên cấp (tăng giới hạn tướng trên bàn đấu).</a:t>
            </a:r>
            <a:endParaRPr lang="en-US" sz="1050" dirty="0"/>
          </a:p>
        </p:txBody>
      </p:sp>
      <p:sp>
        <p:nvSpPr>
          <p:cNvPr id="14" name="Shape 10"/>
          <p:cNvSpPr/>
          <p:nvPr/>
        </p:nvSpPr>
        <p:spPr>
          <a:xfrm>
            <a:off x="1025366" y="3612594"/>
            <a:ext cx="136684" cy="615196"/>
          </a:xfrm>
          <a:prstGeom prst="roundRect">
            <a:avLst>
              <a:gd name="adj" fmla="val 42014"/>
            </a:avLst>
          </a:prstGeom>
          <a:solidFill>
            <a:srgbClr val="E0D7F4"/>
          </a:solidFill>
          <a:ln w="7620">
            <a:solidFill>
              <a:srgbClr val="C6BDDA"/>
            </a:solidFill>
            <a:prstDash val="solid"/>
          </a:ln>
        </p:spPr>
      </p:sp>
      <p:sp>
        <p:nvSpPr>
          <p:cNvPr id="15" name="Shape 11"/>
          <p:cNvSpPr/>
          <p:nvPr/>
        </p:nvSpPr>
        <p:spPr>
          <a:xfrm>
            <a:off x="888683" y="3522821"/>
            <a:ext cx="410170" cy="410170"/>
          </a:xfrm>
          <a:prstGeom prst="roundRect">
            <a:avLst>
              <a:gd name="adj" fmla="val 111466"/>
            </a:avLst>
          </a:prstGeom>
          <a:solidFill>
            <a:srgbClr val="E0D7F4"/>
          </a:solidFill>
          <a:ln w="7620">
            <a:solidFill>
              <a:srgbClr val="C6BDDA"/>
            </a:solidFill>
            <a:prstDash val="solid"/>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1195" y="3625334"/>
            <a:ext cx="205026" cy="205026"/>
          </a:xfrm>
          <a:prstGeom prst="rect">
            <a:avLst/>
          </a:prstGeom>
        </p:spPr>
      </p:pic>
      <p:sp>
        <p:nvSpPr>
          <p:cNvPr id="17" name="Text 12"/>
          <p:cNvSpPr/>
          <p:nvPr/>
        </p:nvSpPr>
        <p:spPr>
          <a:xfrm>
            <a:off x="1435537" y="3544252"/>
            <a:ext cx="1879997" cy="234910"/>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Petrona Bold" pitchFamily="34" charset="0"/>
                <a:ea typeface="Petrona Bold" pitchFamily="34" charset="-122"/>
                <a:cs typeface="Petrona Bold" pitchFamily="34" charset="-120"/>
              </a:rPr>
              <a:t>3. Ghép Trang Bị</a:t>
            </a:r>
            <a:endParaRPr lang="en-US" sz="1450" dirty="0"/>
          </a:p>
        </p:txBody>
      </p:sp>
      <p:sp>
        <p:nvSpPr>
          <p:cNvPr id="18" name="Text 13"/>
          <p:cNvSpPr/>
          <p:nvPr/>
        </p:nvSpPr>
        <p:spPr>
          <a:xfrm>
            <a:off x="1435537" y="3861197"/>
            <a:ext cx="12716351"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Trang bị rơi ra từ quái hoặc nhặt được ở Vòng Chọn Chung (Carousel). Ghép các mảnh trang bị cơ bản để tạo ra trang bị hoàn chỉnh mạnh mẽ cho tướng.</a:t>
            </a:r>
            <a:endParaRPr lang="en-US" sz="1050" dirty="0"/>
          </a:p>
        </p:txBody>
      </p:sp>
      <p:sp>
        <p:nvSpPr>
          <p:cNvPr id="19" name="Shape 14"/>
          <p:cNvSpPr/>
          <p:nvPr/>
        </p:nvSpPr>
        <p:spPr>
          <a:xfrm>
            <a:off x="1230392" y="4569619"/>
            <a:ext cx="136684" cy="615196"/>
          </a:xfrm>
          <a:prstGeom prst="roundRect">
            <a:avLst>
              <a:gd name="adj" fmla="val 42014"/>
            </a:avLst>
          </a:prstGeom>
          <a:solidFill>
            <a:srgbClr val="E0D7F4"/>
          </a:solidFill>
          <a:ln w="7620">
            <a:solidFill>
              <a:srgbClr val="C6BDDA"/>
            </a:solidFill>
            <a:prstDash val="solid"/>
          </a:ln>
        </p:spPr>
      </p:sp>
      <p:sp>
        <p:nvSpPr>
          <p:cNvPr id="20" name="Shape 15"/>
          <p:cNvSpPr/>
          <p:nvPr/>
        </p:nvSpPr>
        <p:spPr>
          <a:xfrm>
            <a:off x="1093708" y="4479846"/>
            <a:ext cx="410170" cy="410170"/>
          </a:xfrm>
          <a:prstGeom prst="roundRect">
            <a:avLst>
              <a:gd name="adj" fmla="val 111466"/>
            </a:avLst>
          </a:prstGeom>
          <a:solidFill>
            <a:srgbClr val="E0D7F4"/>
          </a:solidFill>
          <a:ln w="7620">
            <a:solidFill>
              <a:srgbClr val="C6BDDA"/>
            </a:solidFill>
            <a:prstDash val="solid"/>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6221" y="4582358"/>
            <a:ext cx="205026" cy="205026"/>
          </a:xfrm>
          <a:prstGeom prst="rect">
            <a:avLst/>
          </a:prstGeom>
        </p:spPr>
      </p:pic>
      <p:sp>
        <p:nvSpPr>
          <p:cNvPr id="22" name="Text 16"/>
          <p:cNvSpPr/>
          <p:nvPr/>
        </p:nvSpPr>
        <p:spPr>
          <a:xfrm>
            <a:off x="1640562" y="4501277"/>
            <a:ext cx="1879997" cy="234910"/>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Petrona Bold" pitchFamily="34" charset="0"/>
                <a:ea typeface="Petrona Bold" pitchFamily="34" charset="-122"/>
                <a:cs typeface="Petrona Bold" pitchFamily="34" charset="-120"/>
              </a:rPr>
              <a:t>4. Xếp Đội Hình</a:t>
            </a:r>
            <a:endParaRPr lang="en-US" sz="1450" dirty="0"/>
          </a:p>
        </p:txBody>
      </p:sp>
      <p:sp>
        <p:nvSpPr>
          <p:cNvPr id="23" name="Text 17"/>
          <p:cNvSpPr/>
          <p:nvPr/>
        </p:nvSpPr>
        <p:spPr>
          <a:xfrm>
            <a:off x="1640562" y="4818221"/>
            <a:ext cx="12511326"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Sắp xếp vị trí tướng trên bàn cờ. Quan trọng nhất là kích hoạt tối đa các mốc Tộc/Hệ để tăng cường sức mạnh tổng thể của đội hình.</a:t>
            </a:r>
            <a:endParaRPr lang="en-US" sz="1050" dirty="0"/>
          </a:p>
        </p:txBody>
      </p:sp>
      <p:sp>
        <p:nvSpPr>
          <p:cNvPr id="24" name="Shape 18"/>
          <p:cNvSpPr/>
          <p:nvPr/>
        </p:nvSpPr>
        <p:spPr>
          <a:xfrm>
            <a:off x="1025366" y="5526643"/>
            <a:ext cx="136684" cy="615196"/>
          </a:xfrm>
          <a:prstGeom prst="roundRect">
            <a:avLst>
              <a:gd name="adj" fmla="val 42014"/>
            </a:avLst>
          </a:prstGeom>
          <a:solidFill>
            <a:srgbClr val="E0D7F4"/>
          </a:solidFill>
          <a:ln w="7620">
            <a:solidFill>
              <a:srgbClr val="C6BDDA"/>
            </a:solidFill>
            <a:prstDash val="solid"/>
          </a:ln>
        </p:spPr>
      </p:sp>
      <p:sp>
        <p:nvSpPr>
          <p:cNvPr id="25" name="Shape 19"/>
          <p:cNvSpPr/>
          <p:nvPr/>
        </p:nvSpPr>
        <p:spPr>
          <a:xfrm>
            <a:off x="888683" y="5436870"/>
            <a:ext cx="410170" cy="410170"/>
          </a:xfrm>
          <a:prstGeom prst="roundRect">
            <a:avLst>
              <a:gd name="adj" fmla="val 111466"/>
            </a:avLst>
          </a:prstGeom>
          <a:solidFill>
            <a:srgbClr val="E0D7F4"/>
          </a:solidFill>
          <a:ln w="7620">
            <a:solidFill>
              <a:srgbClr val="C6BDDA"/>
            </a:solidFill>
            <a:prstDash val="solid"/>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1195" y="5539383"/>
            <a:ext cx="205026" cy="205026"/>
          </a:xfrm>
          <a:prstGeom prst="rect">
            <a:avLst/>
          </a:prstGeom>
        </p:spPr>
      </p:pic>
      <p:sp>
        <p:nvSpPr>
          <p:cNvPr id="27" name="Text 20"/>
          <p:cNvSpPr/>
          <p:nvPr/>
        </p:nvSpPr>
        <p:spPr>
          <a:xfrm>
            <a:off x="1435537" y="5458301"/>
            <a:ext cx="1879997" cy="234910"/>
          </a:xfrm>
          <a:prstGeom prst="rect">
            <a:avLst/>
          </a:prstGeom>
          <a:noFill/>
          <a:ln/>
        </p:spPr>
        <p:txBody>
          <a:bodyPr wrap="none" lIns="0" tIns="0" rIns="0" bIns="0" rtlCol="0" anchor="t"/>
          <a:lstStyle/>
          <a:p>
            <a:pPr marL="0" indent="0" algn="l">
              <a:lnSpc>
                <a:spcPts val="1850"/>
              </a:lnSpc>
              <a:buNone/>
            </a:pPr>
            <a:r>
              <a:rPr lang="en-US" sz="1450" b="1" dirty="0">
                <a:solidFill>
                  <a:srgbClr val="272525"/>
                </a:solidFill>
                <a:latin typeface="Petrona Bold" pitchFamily="34" charset="0"/>
                <a:ea typeface="Petrona Bold" pitchFamily="34" charset="-122"/>
                <a:cs typeface="Petrona Bold" pitchFamily="34" charset="-120"/>
              </a:rPr>
              <a:t>5. Combat &amp; Loại Trừ</a:t>
            </a:r>
            <a:endParaRPr lang="en-US" sz="1450" dirty="0"/>
          </a:p>
        </p:txBody>
      </p:sp>
      <p:sp>
        <p:nvSpPr>
          <p:cNvPr id="28" name="Text 21"/>
          <p:cNvSpPr/>
          <p:nvPr/>
        </p:nvSpPr>
        <p:spPr>
          <a:xfrm>
            <a:off x="1435537" y="5775246"/>
            <a:ext cx="12716351" cy="218599"/>
          </a:xfrm>
          <a:prstGeom prst="rect">
            <a:avLst/>
          </a:prstGeom>
          <a:noFill/>
          <a:ln/>
        </p:spPr>
        <p:txBody>
          <a:bodyPr wrap="none" lIns="0" tIns="0" rIns="0" bIns="0" rtlCol="0" anchor="t"/>
          <a:lstStyle/>
          <a:p>
            <a:pPr marL="0" indent="0" algn="l">
              <a:lnSpc>
                <a:spcPts val="1700"/>
              </a:lnSpc>
              <a:buNone/>
            </a:pPr>
            <a:r>
              <a:rPr lang="en-US" sz="1050" dirty="0">
                <a:solidFill>
                  <a:srgbClr val="272525"/>
                </a:solidFill>
                <a:latin typeface="Inter" pitchFamily="34" charset="0"/>
                <a:ea typeface="Inter" pitchFamily="34" charset="-122"/>
                <a:cs typeface="Inter" pitchFamily="34" charset="-120"/>
              </a:rPr>
              <a:t>Đấu với người chơi khác hoặc quái vật. Kết thúc trận đấu, người chiến thắng giữ nguyên máu, người thua bị trừ máu. Người chơi cuối cùng sống sót là người chiến thắng.</a:t>
            </a:r>
            <a:endParaRPr lang="en-US" sz="1050" dirty="0"/>
          </a:p>
        </p:txBody>
      </p:sp>
      <p:sp>
        <p:nvSpPr>
          <p:cNvPr id="29" name="Text 22"/>
          <p:cNvSpPr/>
          <p:nvPr/>
        </p:nvSpPr>
        <p:spPr>
          <a:xfrm>
            <a:off x="478512" y="6346984"/>
            <a:ext cx="3239453" cy="281940"/>
          </a:xfrm>
          <a:prstGeom prst="rect">
            <a:avLst/>
          </a:prstGeom>
          <a:noFill/>
          <a:ln/>
        </p:spPr>
        <p:txBody>
          <a:bodyPr wrap="none" lIns="0" tIns="0" rIns="0" bIns="0" rtlCol="0" anchor="t"/>
          <a:lstStyle/>
          <a:p>
            <a:pPr marL="0" indent="0" algn="l">
              <a:lnSpc>
                <a:spcPts val="2200"/>
              </a:lnSpc>
              <a:buNone/>
            </a:pPr>
            <a:r>
              <a:rPr lang="en-US" sz="1750" b="1" dirty="0">
                <a:solidFill>
                  <a:srgbClr val="F95F88"/>
                </a:solidFill>
                <a:latin typeface="Petrona Bold" pitchFamily="34" charset="0"/>
                <a:ea typeface="Petrona Bold" pitchFamily="34" charset="-122"/>
                <a:cs typeface="Petrona Bold" pitchFamily="34" charset="-120"/>
              </a:rPr>
              <a:t>Yếu Tố Chiến Thuật Quyết Định</a:t>
            </a:r>
            <a:endParaRPr lang="en-US" sz="1750" dirty="0"/>
          </a:p>
        </p:txBody>
      </p:sp>
      <p:sp>
        <p:nvSpPr>
          <p:cNvPr id="30" name="Text 23"/>
          <p:cNvSpPr/>
          <p:nvPr/>
        </p:nvSpPr>
        <p:spPr>
          <a:xfrm>
            <a:off x="478512" y="6833949"/>
            <a:ext cx="13673376" cy="21859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272525"/>
                </a:solidFill>
                <a:latin typeface="Inter" pitchFamily="34" charset="0"/>
                <a:ea typeface="Inter" pitchFamily="34" charset="-122"/>
                <a:cs typeface="Inter" pitchFamily="34" charset="-120"/>
              </a:rPr>
              <a:t>Đọc Meta và Xoay Bài (Pivot): Nhanh chóng chuyển đổi đội hình theo meta hoặc tình hình trận đấu.</a:t>
            </a:r>
            <a:endParaRPr lang="en-US" sz="1050" dirty="0"/>
          </a:p>
        </p:txBody>
      </p:sp>
      <p:sp>
        <p:nvSpPr>
          <p:cNvPr id="31" name="Text 24"/>
          <p:cNvSpPr/>
          <p:nvPr/>
        </p:nvSpPr>
        <p:spPr>
          <a:xfrm>
            <a:off x="478512" y="7100292"/>
            <a:ext cx="13673376" cy="21859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272525"/>
                </a:solidFill>
                <a:latin typeface="Inter" pitchFamily="34" charset="0"/>
                <a:ea typeface="Inter" pitchFamily="34" charset="-122"/>
                <a:cs typeface="Inter" pitchFamily="34" charset="-120"/>
              </a:rPr>
              <a:t>Eco Vàng: Chiến lược quản lý tiền lãi (interest) để tối ưu hóa nguồn thu nhập.</a:t>
            </a:r>
            <a:endParaRPr lang="en-US" sz="1050" dirty="0"/>
          </a:p>
        </p:txBody>
      </p:sp>
      <p:sp>
        <p:nvSpPr>
          <p:cNvPr id="32" name="Text 25"/>
          <p:cNvSpPr/>
          <p:nvPr/>
        </p:nvSpPr>
        <p:spPr>
          <a:xfrm>
            <a:off x="478512" y="7366635"/>
            <a:ext cx="13673376" cy="21859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272525"/>
                </a:solidFill>
                <a:latin typeface="Inter" pitchFamily="34" charset="0"/>
                <a:ea typeface="Inter" pitchFamily="34" charset="-122"/>
                <a:cs typeface="Inter" pitchFamily="34" charset="-120"/>
              </a:rPr>
              <a:t>Chiến thuật Roll: Áp dụng </a:t>
            </a:r>
            <a:r>
              <a:rPr lang="en-US" sz="1050" b="1" dirty="0">
                <a:solidFill>
                  <a:srgbClr val="272525"/>
                </a:solidFill>
                <a:latin typeface="Inter" pitchFamily="34" charset="0"/>
                <a:ea typeface="Inter" pitchFamily="34" charset="-122"/>
                <a:cs typeface="Inter" pitchFamily="34" charset="-120"/>
              </a:rPr>
              <a:t>Slow Roll</a:t>
            </a:r>
            <a:r>
              <a:rPr lang="en-US" sz="1050" dirty="0">
                <a:solidFill>
                  <a:srgbClr val="272525"/>
                </a:solidFill>
                <a:latin typeface="Inter" pitchFamily="34" charset="0"/>
                <a:ea typeface="Inter" pitchFamily="34" charset="-122"/>
                <a:cs typeface="Inter" pitchFamily="34" charset="-120"/>
              </a:rPr>
              <a:t> (roll ít ở cấp độ thấp) hay </a:t>
            </a:r>
            <a:r>
              <a:rPr lang="en-US" sz="1050" b="1" dirty="0">
                <a:solidFill>
                  <a:srgbClr val="272525"/>
                </a:solidFill>
                <a:latin typeface="Inter" pitchFamily="34" charset="0"/>
                <a:ea typeface="Inter" pitchFamily="34" charset="-122"/>
                <a:cs typeface="Inter" pitchFamily="34" charset="-120"/>
              </a:rPr>
              <a:t>Hyper Roll</a:t>
            </a:r>
            <a:r>
              <a:rPr lang="en-US" sz="1050" dirty="0">
                <a:solidFill>
                  <a:srgbClr val="272525"/>
                </a:solidFill>
                <a:latin typeface="Inter" pitchFamily="34" charset="0"/>
                <a:ea typeface="Inter" pitchFamily="34" charset="-122"/>
                <a:cs typeface="Inter" pitchFamily="34" charset="-120"/>
              </a:rPr>
              <a:t> (roll mạnh để tìm tướng 3 sao nhanh).</a:t>
            </a:r>
            <a:endParaRPr lang="en-US" sz="1050" dirty="0"/>
          </a:p>
        </p:txBody>
      </p:sp>
      <p:sp>
        <p:nvSpPr>
          <p:cNvPr id="33" name="Text 26"/>
          <p:cNvSpPr/>
          <p:nvPr/>
        </p:nvSpPr>
        <p:spPr>
          <a:xfrm>
            <a:off x="478512" y="7632978"/>
            <a:ext cx="13673376" cy="218599"/>
          </a:xfrm>
          <a:prstGeom prst="rect">
            <a:avLst/>
          </a:prstGeom>
          <a:noFill/>
          <a:ln/>
        </p:spPr>
        <p:txBody>
          <a:bodyPr wrap="none" lIns="0" tIns="0" rIns="0" bIns="0" rtlCol="0" anchor="t"/>
          <a:lstStyle/>
          <a:p>
            <a:pPr marL="342900" indent="-342900" algn="l">
              <a:lnSpc>
                <a:spcPts val="1700"/>
              </a:lnSpc>
              <a:buSzPct val="100000"/>
              <a:buChar char="•"/>
            </a:pPr>
            <a:r>
              <a:rPr lang="en-US" sz="1050" dirty="0">
                <a:solidFill>
                  <a:srgbClr val="272525"/>
                </a:solidFill>
                <a:latin typeface="Inter" pitchFamily="34" charset="0"/>
                <a:ea typeface="Inter" pitchFamily="34" charset="-122"/>
                <a:cs typeface="Inter" pitchFamily="34" charset="-120"/>
              </a:rPr>
              <a:t>Mỗi trận là một trải nghiệm khác nhau, mang lại tính chơi lại (replay value) vô hạn.</a:t>
            </a:r>
            <a:endParaRPr lang="en-US" sz="1050" dirty="0"/>
          </a:p>
        </p:txBody>
      </p:sp>
      <p:sp>
        <p:nvSpPr>
          <p:cNvPr id="34" name="Rectangle: Rounded Corners 33">
            <a:extLst>
              <a:ext uri="{FF2B5EF4-FFF2-40B4-BE49-F238E27FC236}">
                <a16:creationId xmlns:a16="http://schemas.microsoft.com/office/drawing/2014/main" id="{AD86BE64-5CBD-09AC-C62F-A359057A3BBE}"/>
              </a:ext>
            </a:extLst>
          </p:cNvPr>
          <p:cNvSpPr/>
          <p:nvPr/>
        </p:nvSpPr>
        <p:spPr>
          <a:xfrm>
            <a:off x="11782425" y="7791450"/>
            <a:ext cx="2714625" cy="323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Quách Ngọc Nguyên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0670" y="472916"/>
            <a:ext cx="11603593" cy="589955"/>
          </a:xfrm>
          <a:prstGeom prst="rect">
            <a:avLst/>
          </a:prstGeom>
          <a:noFill/>
          <a:ln/>
        </p:spPr>
        <p:txBody>
          <a:bodyPr wrap="none" lIns="0" tIns="0" rIns="0" bIns="0" rtlCol="0" anchor="t"/>
          <a:lstStyle/>
          <a:p>
            <a:pPr marL="0" indent="0" algn="l">
              <a:lnSpc>
                <a:spcPts val="4600"/>
              </a:lnSpc>
              <a:buNone/>
            </a:pPr>
            <a:r>
              <a:rPr lang="en-US" sz="3700" b="1" dirty="0">
                <a:solidFill>
                  <a:srgbClr val="F95F88"/>
                </a:solidFill>
                <a:latin typeface="Petrona Bold" pitchFamily="34" charset="0"/>
                <a:ea typeface="Petrona Bold" pitchFamily="34" charset="-122"/>
                <a:cs typeface="Petrona Bold" pitchFamily="34" charset="-120"/>
              </a:rPr>
              <a:t>Cơ Chế Kiếm Tiền (Monetization) – Không Pay To Win</a:t>
            </a:r>
            <a:endParaRPr lang="en-US" sz="3700" dirty="0"/>
          </a:p>
        </p:txBody>
      </p:sp>
      <p:sp>
        <p:nvSpPr>
          <p:cNvPr id="3" name="Text 1"/>
          <p:cNvSpPr/>
          <p:nvPr/>
        </p:nvSpPr>
        <p:spPr>
          <a:xfrm>
            <a:off x="600670" y="1406009"/>
            <a:ext cx="13429059" cy="274439"/>
          </a:xfrm>
          <a:prstGeom prst="rect">
            <a:avLst/>
          </a:prstGeom>
          <a:noFill/>
          <a:ln/>
        </p:spPr>
        <p:txBody>
          <a:bodyPr wrap="non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TFT kiếm tiền chủ yếu thông qua các vật phẩm trang trí, không ảnh hưởng đến sức mạnh và lối chơi cốt lõi.</a:t>
            </a:r>
            <a:endParaRPr lang="en-US" sz="13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0670" y="1873448"/>
            <a:ext cx="514826" cy="514826"/>
          </a:xfrm>
          <a:prstGeom prst="rect">
            <a:avLst/>
          </a:prstGeom>
        </p:spPr>
      </p:pic>
      <p:sp>
        <p:nvSpPr>
          <p:cNvPr id="5" name="Text 2"/>
          <p:cNvSpPr/>
          <p:nvPr/>
        </p:nvSpPr>
        <p:spPr>
          <a:xfrm>
            <a:off x="1329928" y="2018228"/>
            <a:ext cx="3203019" cy="294918"/>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Petrona Bold" pitchFamily="34" charset="0"/>
                <a:ea typeface="Petrona Bold" pitchFamily="34" charset="-122"/>
                <a:cs typeface="Petrona Bold" pitchFamily="34" charset="-120"/>
              </a:rPr>
              <a:t>Vật Phẩm Cosmetic (Chủ Lực)</a:t>
            </a:r>
            <a:endParaRPr lang="en-US" sz="1850" dirty="0"/>
          </a:p>
        </p:txBody>
      </p:sp>
      <p:sp>
        <p:nvSpPr>
          <p:cNvPr id="6" name="Text 3"/>
          <p:cNvSpPr/>
          <p:nvPr/>
        </p:nvSpPr>
        <p:spPr>
          <a:xfrm>
            <a:off x="1329928" y="2416016"/>
            <a:ext cx="3604141" cy="1372195"/>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Người chơi mua các vật phẩm cá nhân hóa như </a:t>
            </a:r>
            <a:r>
              <a:rPr lang="en-US" sz="1350" b="1" dirty="0">
                <a:solidFill>
                  <a:srgbClr val="272525"/>
                </a:solidFill>
                <a:latin typeface="Inter" pitchFamily="34" charset="0"/>
                <a:ea typeface="Inter" pitchFamily="34" charset="-122"/>
                <a:cs typeface="Inter" pitchFamily="34" charset="-120"/>
              </a:rPr>
              <a:t>Skin Linh Thú</a:t>
            </a:r>
            <a:r>
              <a:rPr lang="en-US" sz="1350" dirty="0">
                <a:solidFill>
                  <a:srgbClr val="272525"/>
                </a:solidFill>
                <a:latin typeface="Inter" pitchFamily="34" charset="0"/>
                <a:ea typeface="Inter" pitchFamily="34" charset="-122"/>
                <a:cs typeface="Inter" pitchFamily="34" charset="-120"/>
              </a:rPr>
              <a:t> (chú chim nhỏ điều khiển), Sân Đấu độc quyền, Animation tấn công/kết liễu, và Boom hiệu ứng cho quái vật.</a:t>
            </a:r>
            <a:endParaRPr lang="en-US" sz="13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48501" y="1873448"/>
            <a:ext cx="514826" cy="514826"/>
          </a:xfrm>
          <a:prstGeom prst="rect">
            <a:avLst/>
          </a:prstGeom>
        </p:spPr>
      </p:pic>
      <p:sp>
        <p:nvSpPr>
          <p:cNvPr id="8" name="Text 4"/>
          <p:cNvSpPr/>
          <p:nvPr/>
        </p:nvSpPr>
        <p:spPr>
          <a:xfrm>
            <a:off x="5877758" y="2018228"/>
            <a:ext cx="2359700" cy="294918"/>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Petrona Bold" pitchFamily="34" charset="0"/>
                <a:ea typeface="Petrona Bold" pitchFamily="34" charset="-122"/>
                <a:cs typeface="Petrona Bold" pitchFamily="34" charset="-120"/>
              </a:rPr>
              <a:t>Battle Pass Theo Mùa</a:t>
            </a:r>
            <a:endParaRPr lang="en-US" sz="1850" dirty="0"/>
          </a:p>
        </p:txBody>
      </p:sp>
      <p:sp>
        <p:nvSpPr>
          <p:cNvPr id="9" name="Text 5"/>
          <p:cNvSpPr/>
          <p:nvPr/>
        </p:nvSpPr>
        <p:spPr>
          <a:xfrm>
            <a:off x="5877758" y="2416016"/>
            <a:ext cx="3604141" cy="1372195"/>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Người chơi mua Vé Vàng để mở khóa các phần thưởng đặc biệt. Hoàn thành nhiệm vụ hàng ngày/tuần để nhận Exp và Token, đổi lấy các Skin, Biểu Cảm và Linh Thú theo chủ đề mùa giải.</a:t>
            </a:r>
            <a:endParaRPr lang="en-US" sz="13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96331" y="1873448"/>
            <a:ext cx="514826" cy="514826"/>
          </a:xfrm>
          <a:prstGeom prst="rect">
            <a:avLst/>
          </a:prstGeom>
        </p:spPr>
      </p:pic>
      <p:sp>
        <p:nvSpPr>
          <p:cNvPr id="11" name="Text 6"/>
          <p:cNvSpPr/>
          <p:nvPr/>
        </p:nvSpPr>
        <p:spPr>
          <a:xfrm>
            <a:off x="10425589" y="2018228"/>
            <a:ext cx="2359700" cy="294918"/>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Petrona Bold" pitchFamily="34" charset="0"/>
                <a:ea typeface="Petrona Bold" pitchFamily="34" charset="-122"/>
                <a:cs typeface="Petrona Bold" pitchFamily="34" charset="-120"/>
              </a:rPr>
              <a:t>Gói Nạp &amp; Kho Báu</a:t>
            </a:r>
            <a:endParaRPr lang="en-US" sz="1850" dirty="0"/>
          </a:p>
        </p:txBody>
      </p:sp>
      <p:sp>
        <p:nvSpPr>
          <p:cNvPr id="12" name="Text 7"/>
          <p:cNvSpPr/>
          <p:nvPr/>
        </p:nvSpPr>
        <p:spPr>
          <a:xfrm>
            <a:off x="10425589" y="2416016"/>
            <a:ext cx="3604141" cy="1097756"/>
          </a:xfrm>
          <a:prstGeom prst="rect">
            <a:avLst/>
          </a:prstGeom>
          <a:noFill/>
          <a:ln/>
        </p:spPr>
        <p:txBody>
          <a:bodyPr wrap="square" lIns="0" tIns="0" rIns="0" bIns="0" rtlCol="0" anchor="t"/>
          <a:lstStyle/>
          <a:p>
            <a:pPr marL="0" indent="0" algn="l">
              <a:lnSpc>
                <a:spcPts val="2150"/>
              </a:lnSpc>
              <a:buNone/>
            </a:pPr>
            <a:r>
              <a:rPr lang="en-US" sz="1350" dirty="0">
                <a:solidFill>
                  <a:srgbClr val="272525"/>
                </a:solidFill>
                <a:latin typeface="Inter" pitchFamily="34" charset="0"/>
                <a:ea typeface="Inter" pitchFamily="34" charset="-122"/>
                <a:cs typeface="Inter" pitchFamily="34" charset="-120"/>
              </a:rPr>
              <a:t>Cung cấp các gói nạp nhỏ lẻ (ví dụ: 20k–30k) để nhận vật phẩm ngẫu nhiên. Bán </a:t>
            </a:r>
            <a:r>
              <a:rPr lang="en-US" sz="1350" b="1" dirty="0">
                <a:solidFill>
                  <a:srgbClr val="272525"/>
                </a:solidFill>
                <a:latin typeface="Inter" pitchFamily="34" charset="0"/>
                <a:ea typeface="Inter" pitchFamily="34" charset="-122"/>
                <a:cs typeface="Inter" pitchFamily="34" charset="-120"/>
              </a:rPr>
              <a:t>Vé mở Kho Báu</a:t>
            </a:r>
            <a:r>
              <a:rPr lang="en-US" sz="1350" dirty="0">
                <a:solidFill>
                  <a:srgbClr val="272525"/>
                </a:solidFill>
                <a:latin typeface="Inter" pitchFamily="34" charset="0"/>
                <a:ea typeface="Inter" pitchFamily="34" charset="-122"/>
                <a:cs typeface="Inter" pitchFamily="34" charset="-120"/>
              </a:rPr>
              <a:t> (Treasure Realms) hoặc Vé Tăng Tỉ Lệ Loot để săn các vật phẩm hiếm.</a:t>
            </a:r>
            <a:endParaRPr lang="en-US" sz="1350" dirty="0"/>
          </a:p>
        </p:txBody>
      </p:sp>
      <p:sp>
        <p:nvSpPr>
          <p:cNvPr id="13" name="Text 8"/>
          <p:cNvSpPr/>
          <p:nvPr/>
        </p:nvSpPr>
        <p:spPr>
          <a:xfrm>
            <a:off x="600670" y="4045625"/>
            <a:ext cx="7738467" cy="471845"/>
          </a:xfrm>
          <a:prstGeom prst="rect">
            <a:avLst/>
          </a:prstGeom>
          <a:noFill/>
          <a:ln/>
        </p:spPr>
        <p:txBody>
          <a:bodyPr wrap="none" lIns="0" tIns="0" rIns="0" bIns="0" rtlCol="0" anchor="t"/>
          <a:lstStyle/>
          <a:p>
            <a:pPr marL="0" indent="0" algn="l">
              <a:lnSpc>
                <a:spcPts val="3700"/>
              </a:lnSpc>
              <a:buNone/>
            </a:pPr>
            <a:r>
              <a:rPr lang="en-US" sz="2950" b="1" dirty="0">
                <a:solidFill>
                  <a:srgbClr val="F95F88"/>
                </a:solidFill>
                <a:latin typeface="Petrona Bold" pitchFamily="34" charset="0"/>
                <a:ea typeface="Petrona Bold" pitchFamily="34" charset="-122"/>
                <a:cs typeface="Petrona Bold" pitchFamily="34" charset="-120"/>
              </a:rPr>
              <a:t>Chiến Lược Giữ Chân Người Chơi (Retention)</a:t>
            </a:r>
            <a:endParaRPr lang="en-US" sz="2950" dirty="0"/>
          </a:p>
        </p:txBody>
      </p:sp>
      <p:sp>
        <p:nvSpPr>
          <p:cNvPr id="14" name="Text 9"/>
          <p:cNvSpPr/>
          <p:nvPr/>
        </p:nvSpPr>
        <p:spPr>
          <a:xfrm>
            <a:off x="600670" y="4929307"/>
            <a:ext cx="6505218" cy="274439"/>
          </a:xfrm>
          <a:prstGeom prst="rect">
            <a:avLst/>
          </a:prstGeom>
          <a:noFill/>
          <a:ln/>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itchFamily="34" charset="0"/>
                <a:ea typeface="Inter" pitchFamily="34" charset="-122"/>
                <a:cs typeface="Inter" pitchFamily="34" charset="-120"/>
              </a:rPr>
              <a:t>Hệ thống Nhiệm Vụ Ngày/Tuần liên tục khuyến khích người chơi quay lại.</a:t>
            </a:r>
            <a:endParaRPr lang="en-US" sz="1350" dirty="0"/>
          </a:p>
        </p:txBody>
      </p:sp>
      <p:sp>
        <p:nvSpPr>
          <p:cNvPr id="15" name="Text 10"/>
          <p:cNvSpPr/>
          <p:nvPr/>
        </p:nvSpPr>
        <p:spPr>
          <a:xfrm>
            <a:off x="600670" y="5263753"/>
            <a:ext cx="6505218" cy="548878"/>
          </a:xfrm>
          <a:prstGeom prst="rect">
            <a:avLst/>
          </a:prstGeom>
          <a:noFill/>
          <a:ln/>
        </p:spPr>
        <p:txBody>
          <a:bodyPr wrap="square" lIns="0" tIns="0" rIns="0" bIns="0" rtlCol="0" anchor="t"/>
          <a:lstStyle/>
          <a:p>
            <a:pPr marL="342900" indent="-342900" algn="l">
              <a:lnSpc>
                <a:spcPts val="2150"/>
              </a:lnSpc>
              <a:buSzPct val="100000"/>
              <a:buChar char="•"/>
            </a:pPr>
            <a:r>
              <a:rPr lang="en-US" sz="1350" dirty="0">
                <a:solidFill>
                  <a:srgbClr val="272525"/>
                </a:solidFill>
                <a:latin typeface="Inter" pitchFamily="34" charset="0"/>
                <a:ea typeface="Inter" pitchFamily="34" charset="-122"/>
                <a:cs typeface="Inter" pitchFamily="34" charset="-120"/>
              </a:rPr>
              <a:t>Tổ chức Sự Kiện Giới Hạn theo mùa, cung cấp nội dung mới mẻ và độc quyền.</a:t>
            </a:r>
            <a:endParaRPr lang="en-US" sz="1350" dirty="0"/>
          </a:p>
        </p:txBody>
      </p:sp>
      <p:sp>
        <p:nvSpPr>
          <p:cNvPr id="16" name="Text 11"/>
          <p:cNvSpPr/>
          <p:nvPr/>
        </p:nvSpPr>
        <p:spPr>
          <a:xfrm>
            <a:off x="600670" y="5872639"/>
            <a:ext cx="6505218" cy="274439"/>
          </a:xfrm>
          <a:prstGeom prst="rect">
            <a:avLst/>
          </a:prstGeom>
          <a:noFill/>
          <a:ln/>
        </p:spPr>
        <p:txBody>
          <a:bodyPr wrap="none" lIns="0" tIns="0" rIns="0" bIns="0" rtlCol="0" anchor="t"/>
          <a:lstStyle/>
          <a:p>
            <a:pPr marL="342900" indent="-342900" algn="l">
              <a:lnSpc>
                <a:spcPts val="2150"/>
              </a:lnSpc>
              <a:buSzPct val="100000"/>
              <a:buChar char="•"/>
            </a:pPr>
            <a:r>
              <a:rPr lang="en-US" sz="1350" dirty="0">
                <a:solidFill>
                  <a:srgbClr val="272525"/>
                </a:solidFill>
                <a:latin typeface="Inter" pitchFamily="34" charset="0"/>
                <a:ea typeface="Inter" pitchFamily="34" charset="-122"/>
                <a:cs typeface="Inter" pitchFamily="34" charset="-120"/>
              </a:rPr>
              <a:t>Phần thưởng quay lại game (Returning Player Rewards) hấp dẫn.</a:t>
            </a:r>
            <a:endParaRPr lang="en-US" sz="1350" dirty="0"/>
          </a:p>
        </p:txBody>
      </p:sp>
      <p:pic>
        <p:nvPicPr>
          <p:cNvPr id="17" name="Image 3" descr="preencoded.png"/>
          <p:cNvPicPr>
            <a:picLocks noChangeAspect="1"/>
          </p:cNvPicPr>
          <p:nvPr/>
        </p:nvPicPr>
        <p:blipFill>
          <a:blip r:embed="rId9"/>
          <a:stretch>
            <a:fillRect/>
          </a:stretch>
        </p:blipFill>
        <p:spPr>
          <a:xfrm>
            <a:off x="7532132" y="4967883"/>
            <a:ext cx="3089196" cy="1716167"/>
          </a:xfrm>
          <a:prstGeom prst="rect">
            <a:avLst/>
          </a:prstGeom>
        </p:spPr>
      </p:pic>
      <p:sp>
        <p:nvSpPr>
          <p:cNvPr id="18" name="Text 12"/>
          <p:cNvSpPr/>
          <p:nvPr/>
        </p:nvSpPr>
        <p:spPr>
          <a:xfrm>
            <a:off x="600670" y="7070050"/>
            <a:ext cx="13429059" cy="686514"/>
          </a:xfrm>
          <a:prstGeom prst="rect">
            <a:avLst/>
          </a:prstGeom>
          <a:noFill/>
          <a:ln/>
        </p:spPr>
        <p:txBody>
          <a:bodyPr wrap="square" lIns="0" tIns="0" rIns="0" bIns="0" rtlCol="0" anchor="t"/>
          <a:lstStyle/>
          <a:p>
            <a:pPr marL="0" indent="0" algn="l">
              <a:lnSpc>
                <a:spcPts val="2700"/>
              </a:lnSpc>
              <a:buNone/>
            </a:pPr>
            <a:r>
              <a:rPr lang="en-US" sz="1650" b="1" dirty="0">
                <a:solidFill>
                  <a:srgbClr val="6237C8"/>
                </a:solidFill>
                <a:latin typeface="Inter" pitchFamily="34" charset="0"/>
                <a:ea typeface="Inter" pitchFamily="34" charset="-122"/>
                <a:cs typeface="Inter" pitchFamily="34" charset="-120"/>
              </a:rPr>
              <a:t>Kết luận:</a:t>
            </a:r>
            <a:r>
              <a:rPr lang="en-US" sz="1650" dirty="0">
                <a:solidFill>
                  <a:srgbClr val="272525"/>
                </a:solidFill>
                <a:latin typeface="Inter" pitchFamily="34" charset="0"/>
                <a:ea typeface="Inter" pitchFamily="34" charset="-122"/>
                <a:cs typeface="Inter" pitchFamily="34" charset="-120"/>
              </a:rPr>
              <a:t> Việc kiếm tiền không làm ảnh hưởng đến yếu tố cân bằng sức mạnh, mà chỉ đơn thuần </a:t>
            </a:r>
            <a:r>
              <a:rPr lang="en-US" sz="1650" b="1" dirty="0">
                <a:solidFill>
                  <a:srgbClr val="272525"/>
                </a:solidFill>
                <a:latin typeface="Inter" pitchFamily="34" charset="0"/>
                <a:ea typeface="Inter" pitchFamily="34" charset="-122"/>
                <a:cs typeface="Inter" pitchFamily="34" charset="-120"/>
              </a:rPr>
              <a:t>nâng cao trải nghiệm</a:t>
            </a:r>
            <a:r>
              <a:rPr lang="en-US" sz="1650" dirty="0">
                <a:solidFill>
                  <a:srgbClr val="272525"/>
                </a:solidFill>
                <a:latin typeface="Inter" pitchFamily="34" charset="0"/>
                <a:ea typeface="Inter" pitchFamily="34" charset="-122"/>
                <a:cs typeface="Inter" pitchFamily="34" charset="-120"/>
              </a:rPr>
              <a:t> và mức độ cá nhân hóa.</a:t>
            </a:r>
            <a:endParaRPr lang="en-US" sz="1650" dirty="0"/>
          </a:p>
        </p:txBody>
      </p:sp>
      <p:sp>
        <p:nvSpPr>
          <p:cNvPr id="19" name="Rectangle: Rounded Corners 18">
            <a:extLst>
              <a:ext uri="{FF2B5EF4-FFF2-40B4-BE49-F238E27FC236}">
                <a16:creationId xmlns:a16="http://schemas.microsoft.com/office/drawing/2014/main" id="{11609511-A43B-3458-57CB-E629FFF23CEE}"/>
              </a:ext>
            </a:extLst>
          </p:cNvPr>
          <p:cNvSpPr/>
          <p:nvPr/>
        </p:nvSpPr>
        <p:spPr>
          <a:xfrm>
            <a:off x="11782425" y="7791450"/>
            <a:ext cx="2714625" cy="323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Quách Ngọc Nguyên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9581" y="463153"/>
            <a:ext cx="6840974" cy="451366"/>
          </a:xfrm>
          <a:prstGeom prst="rect">
            <a:avLst/>
          </a:prstGeom>
          <a:noFill/>
          <a:ln/>
        </p:spPr>
        <p:txBody>
          <a:bodyPr wrap="none" lIns="0" tIns="0" rIns="0" bIns="0" rtlCol="0" anchor="t"/>
          <a:lstStyle/>
          <a:p>
            <a:pPr marL="0" indent="0" algn="l">
              <a:lnSpc>
                <a:spcPts val="3550"/>
              </a:lnSpc>
              <a:buNone/>
            </a:pPr>
            <a:r>
              <a:rPr lang="en-US" sz="2800" b="1" dirty="0">
                <a:solidFill>
                  <a:srgbClr val="F95F88"/>
                </a:solidFill>
                <a:latin typeface="Petrona Bold" pitchFamily="34" charset="0"/>
                <a:ea typeface="Petrona Bold" pitchFamily="34" charset="-122"/>
                <a:cs typeface="Petrona Bold" pitchFamily="34" charset="-120"/>
              </a:rPr>
              <a:t>Giá Trị Cốt Lõi và Lợi Thế Của Người Chơi</a:t>
            </a:r>
            <a:endParaRPr lang="en-US" sz="2800" dirty="0"/>
          </a:p>
        </p:txBody>
      </p:sp>
      <p:pic>
        <p:nvPicPr>
          <p:cNvPr id="3" name="Image 0" descr="preencoded.png"/>
          <p:cNvPicPr>
            <a:picLocks noChangeAspect="1"/>
          </p:cNvPicPr>
          <p:nvPr/>
        </p:nvPicPr>
        <p:blipFill>
          <a:blip r:embed="rId3"/>
          <a:stretch>
            <a:fillRect/>
          </a:stretch>
        </p:blipFill>
        <p:spPr>
          <a:xfrm>
            <a:off x="467201" y="1264801"/>
            <a:ext cx="4495324" cy="1575792"/>
          </a:xfrm>
          <a:prstGeom prst="rect">
            <a:avLst/>
          </a:prstGeom>
        </p:spPr>
      </p:pic>
      <p:pic>
        <p:nvPicPr>
          <p:cNvPr id="4" name="Image 1" descr="preencoded.png"/>
          <p:cNvPicPr>
            <a:picLocks noChangeAspect="1"/>
          </p:cNvPicPr>
          <p:nvPr/>
        </p:nvPicPr>
        <p:blipFill>
          <a:blip r:embed="rId3"/>
          <a:stretch>
            <a:fillRect/>
          </a:stretch>
        </p:blipFill>
        <p:spPr>
          <a:xfrm>
            <a:off x="5067538" y="1264801"/>
            <a:ext cx="4495324" cy="1575792"/>
          </a:xfrm>
          <a:prstGeom prst="rect">
            <a:avLst/>
          </a:prstGeom>
        </p:spPr>
      </p:pic>
      <p:pic>
        <p:nvPicPr>
          <p:cNvPr id="5" name="Image 2" descr="preencoded.png"/>
          <p:cNvPicPr>
            <a:picLocks noChangeAspect="1"/>
          </p:cNvPicPr>
          <p:nvPr/>
        </p:nvPicPr>
        <p:blipFill>
          <a:blip r:embed="rId3"/>
          <a:stretch>
            <a:fillRect/>
          </a:stretch>
        </p:blipFill>
        <p:spPr>
          <a:xfrm>
            <a:off x="9667875" y="1264801"/>
            <a:ext cx="4495324" cy="1575792"/>
          </a:xfrm>
          <a:prstGeom prst="rect">
            <a:avLst/>
          </a:prstGeom>
        </p:spPr>
      </p:pic>
      <p:sp>
        <p:nvSpPr>
          <p:cNvPr id="6" name="Shape 1"/>
          <p:cNvSpPr/>
          <p:nvPr/>
        </p:nvSpPr>
        <p:spPr>
          <a:xfrm>
            <a:off x="459581" y="3075980"/>
            <a:ext cx="6790015" cy="1527215"/>
          </a:xfrm>
          <a:prstGeom prst="roundRect">
            <a:avLst>
              <a:gd name="adj" fmla="val 3612"/>
            </a:avLst>
          </a:prstGeom>
          <a:solidFill>
            <a:srgbClr val="E0D7F4"/>
          </a:solidFill>
          <a:ln w="7620">
            <a:solidFill>
              <a:srgbClr val="C6BDDA"/>
            </a:solidFill>
            <a:prstDash val="solid"/>
          </a:ln>
        </p:spPr>
      </p:sp>
      <p:sp>
        <p:nvSpPr>
          <p:cNvPr id="7" name="Shape 2"/>
          <p:cNvSpPr/>
          <p:nvPr/>
        </p:nvSpPr>
        <p:spPr>
          <a:xfrm>
            <a:off x="598408" y="3214807"/>
            <a:ext cx="393859" cy="393859"/>
          </a:xfrm>
          <a:prstGeom prst="roundRect">
            <a:avLst>
              <a:gd name="adj" fmla="val 23214109"/>
            </a:avLst>
          </a:prstGeom>
          <a:solidFill>
            <a:srgbClr val="6237C8"/>
          </a:solidFill>
          <a:ln/>
        </p:spPr>
      </p:sp>
      <p:pic>
        <p:nvPicPr>
          <p:cNvPr id="8"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6636" y="3323034"/>
            <a:ext cx="177284" cy="177284"/>
          </a:xfrm>
          <a:prstGeom prst="rect">
            <a:avLst/>
          </a:prstGeom>
        </p:spPr>
      </p:pic>
      <p:sp>
        <p:nvSpPr>
          <p:cNvPr id="9" name="Text 3"/>
          <p:cNvSpPr/>
          <p:nvPr/>
        </p:nvSpPr>
        <p:spPr>
          <a:xfrm>
            <a:off x="598408" y="3739872"/>
            <a:ext cx="2022872" cy="22574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Truy Cập Miễn Phí (F2P)</a:t>
            </a:r>
            <a:endParaRPr lang="en-US" sz="1400" dirty="0"/>
          </a:p>
        </p:txBody>
      </p:sp>
      <p:sp>
        <p:nvSpPr>
          <p:cNvPr id="10" name="Text 4"/>
          <p:cNvSpPr/>
          <p:nvPr/>
        </p:nvSpPr>
        <p:spPr>
          <a:xfrm>
            <a:off x="598408" y="4044315"/>
            <a:ext cx="6512362" cy="210026"/>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Người chơi có thể trải nghiệm toàn bộ nội dung gameplay mà không cần bỏ ra bất kỳ chi phí nào.</a:t>
            </a:r>
            <a:endParaRPr lang="en-US" sz="1000" dirty="0"/>
          </a:p>
        </p:txBody>
      </p:sp>
      <p:sp>
        <p:nvSpPr>
          <p:cNvPr id="11" name="Shape 5"/>
          <p:cNvSpPr/>
          <p:nvPr/>
        </p:nvSpPr>
        <p:spPr>
          <a:xfrm>
            <a:off x="7380803" y="3075980"/>
            <a:ext cx="6790015" cy="1527215"/>
          </a:xfrm>
          <a:prstGeom prst="roundRect">
            <a:avLst>
              <a:gd name="adj" fmla="val 3612"/>
            </a:avLst>
          </a:prstGeom>
          <a:solidFill>
            <a:srgbClr val="E0D7F4"/>
          </a:solidFill>
          <a:ln w="7620">
            <a:solidFill>
              <a:srgbClr val="C6BDDA"/>
            </a:solidFill>
            <a:prstDash val="solid"/>
          </a:ln>
        </p:spPr>
      </p:sp>
      <p:sp>
        <p:nvSpPr>
          <p:cNvPr id="12" name="Shape 6"/>
          <p:cNvSpPr/>
          <p:nvPr/>
        </p:nvSpPr>
        <p:spPr>
          <a:xfrm>
            <a:off x="7519630" y="3214807"/>
            <a:ext cx="393859" cy="393859"/>
          </a:xfrm>
          <a:prstGeom prst="roundRect">
            <a:avLst>
              <a:gd name="adj" fmla="val 23214109"/>
            </a:avLst>
          </a:prstGeom>
          <a:solidFill>
            <a:srgbClr val="6237C8"/>
          </a:solidFill>
          <a:ln/>
        </p:spPr>
      </p:sp>
      <p:pic>
        <p:nvPicPr>
          <p:cNvPr id="13"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7858" y="3323034"/>
            <a:ext cx="177284" cy="177284"/>
          </a:xfrm>
          <a:prstGeom prst="rect">
            <a:avLst/>
          </a:prstGeom>
        </p:spPr>
      </p:pic>
      <p:sp>
        <p:nvSpPr>
          <p:cNvPr id="14" name="Text 7"/>
          <p:cNvSpPr/>
          <p:nvPr/>
        </p:nvSpPr>
        <p:spPr>
          <a:xfrm>
            <a:off x="7519630" y="3739872"/>
            <a:ext cx="1805702" cy="22574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Công Bằng Tuyệt Đối</a:t>
            </a:r>
            <a:endParaRPr lang="en-US" sz="1400" dirty="0"/>
          </a:p>
        </p:txBody>
      </p:sp>
      <p:sp>
        <p:nvSpPr>
          <p:cNvPr id="15" name="Text 8"/>
          <p:cNvSpPr/>
          <p:nvPr/>
        </p:nvSpPr>
        <p:spPr>
          <a:xfrm>
            <a:off x="7519630" y="4044315"/>
            <a:ext cx="6512362" cy="420053"/>
          </a:xfrm>
          <a:prstGeom prst="rect">
            <a:avLst/>
          </a:prstGeom>
          <a:noFill/>
          <a:ln/>
        </p:spPr>
        <p:txBody>
          <a:bodyPr wrap="square" lIns="0" tIns="0" rIns="0" bIns="0" rtlCol="0" anchor="t"/>
          <a:lstStyle/>
          <a:p>
            <a:pPr marL="0" indent="0" algn="l">
              <a:lnSpc>
                <a:spcPts val="1650"/>
              </a:lnSpc>
              <a:buNone/>
            </a:pPr>
            <a:r>
              <a:rPr lang="en-US" sz="1000" b="1" dirty="0">
                <a:solidFill>
                  <a:srgbClr val="272525"/>
                </a:solidFill>
                <a:latin typeface="Inter" pitchFamily="34" charset="0"/>
                <a:ea typeface="Inter" pitchFamily="34" charset="-122"/>
                <a:cs typeface="Inter" pitchFamily="34" charset="-120"/>
              </a:rPr>
              <a:t>Không Pay-to-Win</a:t>
            </a:r>
            <a:r>
              <a:rPr lang="en-US" sz="1000" dirty="0">
                <a:solidFill>
                  <a:srgbClr val="272525"/>
                </a:solidFill>
                <a:latin typeface="Inter" pitchFamily="34" charset="0"/>
                <a:ea typeface="Inter" pitchFamily="34" charset="-122"/>
                <a:cs typeface="Inter" pitchFamily="34" charset="-120"/>
              </a:rPr>
              <a:t>. Sức mạnh duy nhất đến từ kỹ năng xoay bài, quản lý tài chính và chiến thuật sáng suốt.</a:t>
            </a:r>
            <a:endParaRPr lang="en-US" sz="1000" dirty="0"/>
          </a:p>
        </p:txBody>
      </p:sp>
      <p:sp>
        <p:nvSpPr>
          <p:cNvPr id="16" name="Shape 9"/>
          <p:cNvSpPr/>
          <p:nvPr/>
        </p:nvSpPr>
        <p:spPr>
          <a:xfrm>
            <a:off x="459581" y="4734401"/>
            <a:ext cx="6790015" cy="1527215"/>
          </a:xfrm>
          <a:prstGeom prst="roundRect">
            <a:avLst>
              <a:gd name="adj" fmla="val 3612"/>
            </a:avLst>
          </a:prstGeom>
          <a:solidFill>
            <a:srgbClr val="E0D7F4"/>
          </a:solidFill>
          <a:ln w="7620">
            <a:solidFill>
              <a:srgbClr val="C6BDDA"/>
            </a:solidFill>
            <a:prstDash val="solid"/>
          </a:ln>
        </p:spPr>
      </p:sp>
      <p:sp>
        <p:nvSpPr>
          <p:cNvPr id="17" name="Shape 10"/>
          <p:cNvSpPr/>
          <p:nvPr/>
        </p:nvSpPr>
        <p:spPr>
          <a:xfrm>
            <a:off x="598408" y="4873228"/>
            <a:ext cx="393859" cy="393859"/>
          </a:xfrm>
          <a:prstGeom prst="roundRect">
            <a:avLst>
              <a:gd name="adj" fmla="val 23214109"/>
            </a:avLst>
          </a:prstGeom>
          <a:solidFill>
            <a:srgbClr val="6237C8"/>
          </a:solidFill>
          <a:ln/>
        </p:spPr>
      </p:sp>
      <p:pic>
        <p:nvPicPr>
          <p:cNvPr id="18" name="Image 5"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6636" y="4981456"/>
            <a:ext cx="177284" cy="177284"/>
          </a:xfrm>
          <a:prstGeom prst="rect">
            <a:avLst/>
          </a:prstGeom>
        </p:spPr>
      </p:pic>
      <p:sp>
        <p:nvSpPr>
          <p:cNvPr id="19" name="Text 11"/>
          <p:cNvSpPr/>
          <p:nvPr/>
        </p:nvSpPr>
        <p:spPr>
          <a:xfrm>
            <a:off x="598408" y="5398294"/>
            <a:ext cx="1805702" cy="22574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Tính Tái Lặp Cao</a:t>
            </a:r>
            <a:endParaRPr lang="en-US" sz="1400" dirty="0"/>
          </a:p>
        </p:txBody>
      </p:sp>
      <p:sp>
        <p:nvSpPr>
          <p:cNvPr id="20" name="Text 12"/>
          <p:cNvSpPr/>
          <p:nvPr/>
        </p:nvSpPr>
        <p:spPr>
          <a:xfrm>
            <a:off x="598408" y="5702737"/>
            <a:ext cx="6512362" cy="420053"/>
          </a:xfrm>
          <a:prstGeom prst="rect">
            <a:avLst/>
          </a:prstGeom>
          <a:noFill/>
          <a:ln/>
        </p:spPr>
        <p:txBody>
          <a:bodyPr wrap="squar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Nhiều đội hình, meta thay đổi liên tục qua các bản cập nhật, đảm bảo trải nghiệm không bao giờ nhàm chán.</a:t>
            </a:r>
            <a:endParaRPr lang="en-US" sz="1000" dirty="0"/>
          </a:p>
        </p:txBody>
      </p:sp>
      <p:sp>
        <p:nvSpPr>
          <p:cNvPr id="21" name="Shape 13"/>
          <p:cNvSpPr/>
          <p:nvPr/>
        </p:nvSpPr>
        <p:spPr>
          <a:xfrm>
            <a:off x="7380803" y="4734401"/>
            <a:ext cx="6790015" cy="1527215"/>
          </a:xfrm>
          <a:prstGeom prst="roundRect">
            <a:avLst>
              <a:gd name="adj" fmla="val 3612"/>
            </a:avLst>
          </a:prstGeom>
          <a:solidFill>
            <a:srgbClr val="E0D7F4"/>
          </a:solidFill>
          <a:ln w="7620">
            <a:solidFill>
              <a:srgbClr val="C6BDDA"/>
            </a:solidFill>
            <a:prstDash val="solid"/>
          </a:ln>
        </p:spPr>
      </p:sp>
      <p:sp>
        <p:nvSpPr>
          <p:cNvPr id="22" name="Shape 14"/>
          <p:cNvSpPr/>
          <p:nvPr/>
        </p:nvSpPr>
        <p:spPr>
          <a:xfrm>
            <a:off x="7519630" y="4873228"/>
            <a:ext cx="393859" cy="393859"/>
          </a:xfrm>
          <a:prstGeom prst="roundRect">
            <a:avLst>
              <a:gd name="adj" fmla="val 23214109"/>
            </a:avLst>
          </a:prstGeom>
          <a:solidFill>
            <a:srgbClr val="6237C8"/>
          </a:solidFill>
          <a:ln/>
        </p:spPr>
      </p:sp>
      <p:pic>
        <p:nvPicPr>
          <p:cNvPr id="23"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627858" y="4981456"/>
            <a:ext cx="177284" cy="177284"/>
          </a:xfrm>
          <a:prstGeom prst="rect">
            <a:avLst/>
          </a:prstGeom>
        </p:spPr>
      </p:pic>
      <p:sp>
        <p:nvSpPr>
          <p:cNvPr id="24" name="Text 15"/>
          <p:cNvSpPr/>
          <p:nvPr/>
        </p:nvSpPr>
        <p:spPr>
          <a:xfrm>
            <a:off x="7519630" y="5398294"/>
            <a:ext cx="1805702" cy="225743"/>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Petrona Bold" pitchFamily="34" charset="0"/>
                <a:ea typeface="Petrona Bold" pitchFamily="34" charset="-122"/>
                <a:cs typeface="Petrona Bold" pitchFamily="34" charset="-120"/>
              </a:rPr>
              <a:t>Cộng Đồng Lớn Mạnh</a:t>
            </a:r>
            <a:endParaRPr lang="en-US" sz="1400" dirty="0"/>
          </a:p>
        </p:txBody>
      </p:sp>
      <p:sp>
        <p:nvSpPr>
          <p:cNvPr id="25" name="Text 16"/>
          <p:cNvSpPr/>
          <p:nvPr/>
        </p:nvSpPr>
        <p:spPr>
          <a:xfrm>
            <a:off x="7519630" y="5702737"/>
            <a:ext cx="6512362" cy="210026"/>
          </a:xfrm>
          <a:prstGeom prst="rect">
            <a:avLst/>
          </a:prstGeom>
          <a:noFill/>
          <a:ln/>
        </p:spPr>
        <p:txBody>
          <a:bodyPr wrap="none" lIns="0" tIns="0" rIns="0" bIns="0" rtlCol="0" anchor="t"/>
          <a:lstStyle/>
          <a:p>
            <a:pPr marL="0" indent="0" algn="l">
              <a:lnSpc>
                <a:spcPts val="1650"/>
              </a:lnSpc>
              <a:buNone/>
            </a:pPr>
            <a:r>
              <a:rPr lang="en-US" sz="1000" dirty="0">
                <a:solidFill>
                  <a:srgbClr val="272525"/>
                </a:solidFill>
                <a:latin typeface="Inter" pitchFamily="34" charset="0"/>
                <a:ea typeface="Inter" pitchFamily="34" charset="-122"/>
                <a:cs typeface="Inter" pitchFamily="34" charset="-120"/>
              </a:rPr>
              <a:t>Cộng đồng game thủ đông đảo, cùng với hệ thống giải đấu eSports chuyên nghiệp toàn cầu.</a:t>
            </a:r>
            <a:endParaRPr lang="en-US" sz="1000" dirty="0"/>
          </a:p>
        </p:txBody>
      </p:sp>
      <p:sp>
        <p:nvSpPr>
          <p:cNvPr id="26" name="Text 17"/>
          <p:cNvSpPr/>
          <p:nvPr/>
        </p:nvSpPr>
        <p:spPr>
          <a:xfrm>
            <a:off x="459581" y="6458545"/>
            <a:ext cx="2876788" cy="270867"/>
          </a:xfrm>
          <a:prstGeom prst="rect">
            <a:avLst/>
          </a:prstGeom>
          <a:noFill/>
          <a:ln/>
        </p:spPr>
        <p:txBody>
          <a:bodyPr wrap="none" lIns="0" tIns="0" rIns="0" bIns="0" rtlCol="0" anchor="t"/>
          <a:lstStyle/>
          <a:p>
            <a:pPr marL="0" indent="0" algn="l">
              <a:lnSpc>
                <a:spcPts val="2100"/>
              </a:lnSpc>
              <a:buNone/>
            </a:pPr>
            <a:r>
              <a:rPr lang="en-US" sz="1700" b="1" dirty="0">
                <a:solidFill>
                  <a:srgbClr val="F95F88"/>
                </a:solidFill>
                <a:latin typeface="Petrona Bold" pitchFamily="34" charset="0"/>
                <a:ea typeface="Petrona Bold" pitchFamily="34" charset="-122"/>
                <a:cs typeface="Petrona Bold" pitchFamily="34" charset="-120"/>
              </a:rPr>
              <a:t>Giá Trị Trải Nghiệm Cá Nhân</a:t>
            </a:r>
            <a:endParaRPr lang="en-US" sz="1700" dirty="0"/>
          </a:p>
        </p:txBody>
      </p:sp>
      <p:sp>
        <p:nvSpPr>
          <p:cNvPr id="27" name="Text 18"/>
          <p:cNvSpPr/>
          <p:nvPr/>
        </p:nvSpPr>
        <p:spPr>
          <a:xfrm>
            <a:off x="459581" y="7044452"/>
            <a:ext cx="6695480" cy="210026"/>
          </a:xfrm>
          <a:prstGeom prst="rect">
            <a:avLst/>
          </a:prstGeom>
          <a:noFill/>
          <a:ln/>
        </p:spPr>
        <p:txBody>
          <a:bodyPr wrap="none" lIns="0" tIns="0" rIns="0" bIns="0" rtlCol="0" anchor="t"/>
          <a:lstStyle/>
          <a:p>
            <a:pPr marL="342900" indent="-342900" algn="l">
              <a:lnSpc>
                <a:spcPts val="1650"/>
              </a:lnSpc>
              <a:buSzPct val="100000"/>
              <a:buChar char="•"/>
            </a:pPr>
            <a:r>
              <a:rPr lang="en-US" sz="1000" b="1" dirty="0">
                <a:solidFill>
                  <a:srgbClr val="272525"/>
                </a:solidFill>
                <a:latin typeface="Inter" pitchFamily="34" charset="0"/>
                <a:ea typeface="Inter" pitchFamily="34" charset="-122"/>
                <a:cs typeface="Inter" pitchFamily="34" charset="-120"/>
              </a:rPr>
              <a:t>Sáng Tạo Vô Hạn:</a:t>
            </a:r>
            <a:r>
              <a:rPr lang="en-US" sz="1000" dirty="0">
                <a:solidFill>
                  <a:srgbClr val="272525"/>
                </a:solidFill>
                <a:latin typeface="Inter" pitchFamily="34" charset="0"/>
                <a:ea typeface="Inter" pitchFamily="34" charset="-122"/>
                <a:cs typeface="Inter" pitchFamily="34" charset="-120"/>
              </a:rPr>
              <a:t> Thoải mái xây dựng và thử nghiệm các đội hình độc đáo, mang đậm dấu ấn cá nhân.</a:t>
            </a:r>
            <a:endParaRPr lang="en-US" sz="1000" dirty="0"/>
          </a:p>
        </p:txBody>
      </p:sp>
      <p:sp>
        <p:nvSpPr>
          <p:cNvPr id="28" name="Text 19"/>
          <p:cNvSpPr/>
          <p:nvPr/>
        </p:nvSpPr>
        <p:spPr>
          <a:xfrm>
            <a:off x="459581" y="7300436"/>
            <a:ext cx="6695480" cy="420053"/>
          </a:xfrm>
          <a:prstGeom prst="rect">
            <a:avLst/>
          </a:prstGeom>
          <a:noFill/>
          <a:ln/>
        </p:spPr>
        <p:txBody>
          <a:bodyPr wrap="square" lIns="0" tIns="0" rIns="0" bIns="0" rtlCol="0" anchor="t"/>
          <a:lstStyle/>
          <a:p>
            <a:pPr marL="342900" indent="-342900" algn="l">
              <a:lnSpc>
                <a:spcPts val="1650"/>
              </a:lnSpc>
              <a:buSzPct val="100000"/>
              <a:buChar char="•"/>
            </a:pPr>
            <a:r>
              <a:rPr lang="en-US" sz="1000" b="1" dirty="0">
                <a:solidFill>
                  <a:srgbClr val="272525"/>
                </a:solidFill>
                <a:latin typeface="Inter" pitchFamily="34" charset="0"/>
                <a:ea typeface="Inter" pitchFamily="34" charset="-122"/>
                <a:cs typeface="Inter" pitchFamily="34" charset="-120"/>
              </a:rPr>
              <a:t>Chiến Thuật Sâu Sắc:</a:t>
            </a:r>
            <a:r>
              <a:rPr lang="en-US" sz="1000" dirty="0">
                <a:solidFill>
                  <a:srgbClr val="272525"/>
                </a:solidFill>
                <a:latin typeface="Inter" pitchFamily="34" charset="0"/>
                <a:ea typeface="Inter" pitchFamily="34" charset="-122"/>
                <a:cs typeface="Inter" pitchFamily="34" charset="-120"/>
              </a:rPr>
              <a:t> Thỏa mãn đam mê chiến thuật với cơ chế quản lý tài nguyên và ra quyết định phức tạp.</a:t>
            </a:r>
            <a:endParaRPr lang="en-US" sz="1000" dirty="0"/>
          </a:p>
        </p:txBody>
      </p:sp>
      <p:sp>
        <p:nvSpPr>
          <p:cNvPr id="29" name="Text 20"/>
          <p:cNvSpPr/>
          <p:nvPr/>
        </p:nvSpPr>
        <p:spPr>
          <a:xfrm>
            <a:off x="7482959" y="7044452"/>
            <a:ext cx="6695480" cy="210026"/>
          </a:xfrm>
          <a:prstGeom prst="rect">
            <a:avLst/>
          </a:prstGeom>
          <a:noFill/>
          <a:ln/>
        </p:spPr>
        <p:txBody>
          <a:bodyPr wrap="none" lIns="0" tIns="0" rIns="0" bIns="0" rtlCol="0" anchor="t"/>
          <a:lstStyle/>
          <a:p>
            <a:pPr marL="342900" indent="-342900" algn="l">
              <a:lnSpc>
                <a:spcPts val="1650"/>
              </a:lnSpc>
              <a:buSzPct val="100000"/>
              <a:buChar char="•"/>
            </a:pPr>
            <a:r>
              <a:rPr lang="en-US" sz="1000" b="1" dirty="0">
                <a:solidFill>
                  <a:srgbClr val="272525"/>
                </a:solidFill>
                <a:latin typeface="Inter" pitchFamily="34" charset="0"/>
                <a:ea typeface="Inter" pitchFamily="34" charset="-122"/>
                <a:cs typeface="Inter" pitchFamily="34" charset="-120"/>
              </a:rPr>
              <a:t>Hình Ảnh Hấp Dẫn:</a:t>
            </a:r>
            <a:r>
              <a:rPr lang="en-US" sz="1000" dirty="0">
                <a:solidFill>
                  <a:srgbClr val="272525"/>
                </a:solidFill>
                <a:latin typeface="Inter" pitchFamily="34" charset="0"/>
                <a:ea typeface="Inter" pitchFamily="34" charset="-122"/>
                <a:cs typeface="Inter" pitchFamily="34" charset="-120"/>
              </a:rPr>
              <a:t> Giao diện đẹp mắt, hiệu ứng combat sống động và cuốn hút.</a:t>
            </a:r>
            <a:endParaRPr lang="en-US" sz="1000" dirty="0"/>
          </a:p>
        </p:txBody>
      </p:sp>
      <p:sp>
        <p:nvSpPr>
          <p:cNvPr id="30" name="Text 21"/>
          <p:cNvSpPr/>
          <p:nvPr/>
        </p:nvSpPr>
        <p:spPr>
          <a:xfrm>
            <a:off x="7482959" y="7300436"/>
            <a:ext cx="6695480" cy="210026"/>
          </a:xfrm>
          <a:prstGeom prst="rect">
            <a:avLst/>
          </a:prstGeom>
          <a:noFill/>
          <a:ln/>
        </p:spPr>
        <p:txBody>
          <a:bodyPr wrap="none" lIns="0" tIns="0" rIns="0" bIns="0" rtlCol="0" anchor="t"/>
          <a:lstStyle/>
          <a:p>
            <a:pPr marL="342900" indent="-342900" algn="l">
              <a:lnSpc>
                <a:spcPts val="1650"/>
              </a:lnSpc>
              <a:buSzPct val="100000"/>
              <a:buChar char="•"/>
            </a:pPr>
            <a:r>
              <a:rPr lang="en-US" sz="1000" b="1" dirty="0">
                <a:solidFill>
                  <a:srgbClr val="272525"/>
                </a:solidFill>
                <a:latin typeface="Inter" pitchFamily="34" charset="0"/>
                <a:ea typeface="Inter" pitchFamily="34" charset="-122"/>
                <a:cs typeface="Inter" pitchFamily="34" charset="-120"/>
              </a:rPr>
              <a:t>Cá Nhân Hóa:</a:t>
            </a:r>
            <a:r>
              <a:rPr lang="en-US" sz="1000" dirty="0">
                <a:solidFill>
                  <a:srgbClr val="272525"/>
                </a:solidFill>
                <a:latin typeface="Inter" pitchFamily="34" charset="0"/>
                <a:ea typeface="Inter" pitchFamily="34" charset="-122"/>
                <a:cs typeface="Inter" pitchFamily="34" charset="-120"/>
              </a:rPr>
              <a:t> Hệ thống Cosmetic đa dạng giúp cá nhân hóa hoàn toàn trải nghiệm của Tactician.</a:t>
            </a:r>
            <a:endParaRPr lang="en-US" sz="1000" dirty="0"/>
          </a:p>
        </p:txBody>
      </p:sp>
      <p:sp>
        <p:nvSpPr>
          <p:cNvPr id="31" name="Rectangle: Rounded Corners 30">
            <a:extLst>
              <a:ext uri="{FF2B5EF4-FFF2-40B4-BE49-F238E27FC236}">
                <a16:creationId xmlns:a16="http://schemas.microsoft.com/office/drawing/2014/main" id="{CD60F6AB-61F1-63B5-7AFE-8ACCF39CFCB2}"/>
              </a:ext>
            </a:extLst>
          </p:cNvPr>
          <p:cNvSpPr/>
          <p:nvPr/>
        </p:nvSpPr>
        <p:spPr>
          <a:xfrm>
            <a:off x="11782425" y="7791450"/>
            <a:ext cx="2714625" cy="3238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dirty="0"/>
              <a:t>Quách Ngọc Nguyên</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1281</Words>
  <Application>Microsoft Office PowerPoint</Application>
  <PresentationFormat>Custom</PresentationFormat>
  <Paragraphs>76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Petrona Bold</vt:lpstr>
      <vt:lpstr>Arial</vt:lpstr>
      <vt:lpstr>Inter</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Nguyen. Quach Ngoc  - ST CMCU</cp:lastModifiedBy>
  <cp:revision>2</cp:revision>
  <dcterms:created xsi:type="dcterms:W3CDTF">2025-11-04T09:20:32Z</dcterms:created>
  <dcterms:modified xsi:type="dcterms:W3CDTF">2025-11-04T09:22:21Z</dcterms:modified>
</cp:coreProperties>
</file>